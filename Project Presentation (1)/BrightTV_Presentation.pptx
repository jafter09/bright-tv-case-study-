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Views per day</c:v>
                </c:pt>
              </c:strCache>
            </c:strRef>
          </c:tx>
          <c:spPr>
            <a:solidFill>
              <a:srgbClr val="F2A93B">
                <a:alpha val="30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Sheet1!$A$2:$A$91</c:f>
              <c:multiLvlStrCache>
                <c:ptCount val="90"/>
                <c:lvl>
                  <c:pt idx="0">
                    <c:v>Jan</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Feb</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Mar</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lvl>
              </c:multiLvlStrCache>
            </c:multiLvlStrRef>
          </c:cat>
          <c:val>
            <c:numRef>
              <c:f>Sheet1!$B$2:$B$91</c:f>
              <c:numCache>
                <c:formatCode>General</c:formatCode>
                <c:ptCount val="90"/>
                <c:pt idx="0">
                  <c:v>70</c:v>
                </c:pt>
                <c:pt idx="1">
                  <c:v>73</c:v>
                </c:pt>
                <c:pt idx="2">
                  <c:v>72</c:v>
                </c:pt>
                <c:pt idx="3">
                  <c:v>60</c:v>
                </c:pt>
                <c:pt idx="4">
                  <c:v>85</c:v>
                </c:pt>
                <c:pt idx="5">
                  <c:v>85</c:v>
                </c:pt>
                <c:pt idx="6">
                  <c:v>67</c:v>
                </c:pt>
                <c:pt idx="7">
                  <c:v>84</c:v>
                </c:pt>
                <c:pt idx="8">
                  <c:v>79</c:v>
                </c:pt>
                <c:pt idx="9">
                  <c:v>58</c:v>
                </c:pt>
                <c:pt idx="10">
                  <c:v>76</c:v>
                </c:pt>
                <c:pt idx="11">
                  <c:v>69</c:v>
                </c:pt>
                <c:pt idx="12">
                  <c:v>66</c:v>
                </c:pt>
                <c:pt idx="13">
                  <c:v>84</c:v>
                </c:pt>
                <c:pt idx="14">
                  <c:v>85</c:v>
                </c:pt>
                <c:pt idx="15">
                  <c:v>89</c:v>
                </c:pt>
                <c:pt idx="16">
                  <c:v>48</c:v>
                </c:pt>
                <c:pt idx="17">
                  <c:v>57</c:v>
                </c:pt>
                <c:pt idx="18">
                  <c:v>70</c:v>
                </c:pt>
                <c:pt idx="19">
                  <c:v>67</c:v>
                </c:pt>
                <c:pt idx="20">
                  <c:v>79</c:v>
                </c:pt>
                <c:pt idx="21">
                  <c:v>85</c:v>
                </c:pt>
                <c:pt idx="22">
                  <c:v>93</c:v>
                </c:pt>
                <c:pt idx="23">
                  <c:v>57</c:v>
                </c:pt>
                <c:pt idx="24">
                  <c:v>48</c:v>
                </c:pt>
                <c:pt idx="25">
                  <c:v>70</c:v>
                </c:pt>
                <c:pt idx="26">
                  <c:v>62</c:v>
                </c:pt>
                <c:pt idx="27">
                  <c:v>63</c:v>
                </c:pt>
                <c:pt idx="28">
                  <c:v>73</c:v>
                </c:pt>
                <c:pt idx="29">
                  <c:v>73</c:v>
                </c:pt>
                <c:pt idx="30">
                  <c:v>56</c:v>
                </c:pt>
                <c:pt idx="31">
                  <c:v>61</c:v>
                </c:pt>
                <c:pt idx="32">
                  <c:v>121</c:v>
                </c:pt>
                <c:pt idx="33">
                  <c:v>83</c:v>
                </c:pt>
                <c:pt idx="34">
                  <c:v>78</c:v>
                </c:pt>
                <c:pt idx="35">
                  <c:v>95</c:v>
                </c:pt>
                <c:pt idx="36">
                  <c:v>124</c:v>
                </c:pt>
                <c:pt idx="37">
                  <c:v>72</c:v>
                </c:pt>
                <c:pt idx="38">
                  <c:v>45</c:v>
                </c:pt>
                <c:pt idx="39">
                  <c:v>79</c:v>
                </c:pt>
                <c:pt idx="40">
                  <c:v>62</c:v>
                </c:pt>
                <c:pt idx="41">
                  <c:v>66</c:v>
                </c:pt>
                <c:pt idx="42">
                  <c:v>101</c:v>
                </c:pt>
                <c:pt idx="43">
                  <c:v>97</c:v>
                </c:pt>
                <c:pt idx="44">
                  <c:v>86</c:v>
                </c:pt>
                <c:pt idx="45">
                  <c:v>81</c:v>
                </c:pt>
                <c:pt idx="46">
                  <c:v>63</c:v>
                </c:pt>
                <c:pt idx="47">
                  <c:v>73</c:v>
                </c:pt>
                <c:pt idx="48">
                  <c:v>162</c:v>
                </c:pt>
                <c:pt idx="49">
                  <c:v>270</c:v>
                </c:pt>
                <c:pt idx="50">
                  <c:v>117</c:v>
                </c:pt>
                <c:pt idx="51">
                  <c:v>178</c:v>
                </c:pt>
                <c:pt idx="52">
                  <c:v>109</c:v>
                </c:pt>
                <c:pt idx="53">
                  <c:v>90</c:v>
                </c:pt>
                <c:pt idx="54">
                  <c:v>190</c:v>
                </c:pt>
                <c:pt idx="55">
                  <c:v>122</c:v>
                </c:pt>
                <c:pt idx="56">
                  <c:v>123</c:v>
                </c:pt>
                <c:pt idx="57">
                  <c:v>122</c:v>
                </c:pt>
                <c:pt idx="58">
                  <c:v>106</c:v>
                </c:pt>
                <c:pt idx="59">
                  <c:v>153</c:v>
                </c:pt>
                <c:pt idx="60">
                  <c:v>137</c:v>
                </c:pt>
                <c:pt idx="61">
                  <c:v>198</c:v>
                </c:pt>
                <c:pt idx="62">
                  <c:v>166</c:v>
                </c:pt>
                <c:pt idx="63">
                  <c:v>198</c:v>
                </c:pt>
                <c:pt idx="64">
                  <c:v>210</c:v>
                </c:pt>
                <c:pt idx="65">
                  <c:v>120</c:v>
                </c:pt>
                <c:pt idx="66">
                  <c:v>123</c:v>
                </c:pt>
                <c:pt idx="67">
                  <c:v>108</c:v>
                </c:pt>
                <c:pt idx="68">
                  <c:v>97</c:v>
                </c:pt>
                <c:pt idx="69">
                  <c:v>141</c:v>
                </c:pt>
                <c:pt idx="70">
                  <c:v>203</c:v>
                </c:pt>
                <c:pt idx="71">
                  <c:v>146</c:v>
                </c:pt>
                <c:pt idx="72">
                  <c:v>92</c:v>
                </c:pt>
                <c:pt idx="73">
                  <c:v>104</c:v>
                </c:pt>
                <c:pt idx="74">
                  <c:v>65</c:v>
                </c:pt>
                <c:pt idx="75">
                  <c:v>60</c:v>
                </c:pt>
                <c:pt idx="76">
                  <c:v>123</c:v>
                </c:pt>
                <c:pt idx="77">
                  <c:v>192</c:v>
                </c:pt>
                <c:pt idx="78">
                  <c:v>173</c:v>
                </c:pt>
                <c:pt idx="79">
                  <c:v>77</c:v>
                </c:pt>
                <c:pt idx="80">
                  <c:v>74</c:v>
                </c:pt>
                <c:pt idx="81">
                  <c:v>189</c:v>
                </c:pt>
                <c:pt idx="82">
                  <c:v>267</c:v>
                </c:pt>
                <c:pt idx="83">
                  <c:v>226</c:v>
                </c:pt>
                <c:pt idx="84">
                  <c:v>195</c:v>
                </c:pt>
                <c:pt idx="85">
                  <c:v>136</c:v>
                </c:pt>
                <c:pt idx="86">
                  <c:v>148</c:v>
                </c:pt>
                <c:pt idx="87">
                  <c:v>220</c:v>
                </c:pt>
                <c:pt idx="88">
                  <c:v>352</c:v>
                </c:pt>
                <c:pt idx="89">
                  <c:v>128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232E36"/>
            </a:solidFill>
            <a:prstDash val="solid"/>
            <a:round/>
          </a:ln>
        </c:spPr>
        <c:txPr>
          <a:bodyPr/>
          <a:lstStyle/>
          <a:p>
            <a:pPr>
              <a:defRPr sz="100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32E36"/>
              </a:solidFill>
              <a:prstDash val="solid"/>
              <a:round/>
            </a:ln>
          </c:spPr>
        </c:majorGridlines>
        <c:numFmt formatCode="General" sourceLinked="0"/>
        <c:majorTickMark val="out"/>
        <c:minorTickMark val="none"/>
        <c:tickLblPos val="nextTo"/>
        <c:spPr>
          <a:ln w="12700" cap="flat">
            <a:solidFill>
              <a:srgbClr val="232E36"/>
            </a:solidFill>
            <a:prstDash val="solid"/>
            <a:round/>
          </a:ln>
        </c:spPr>
        <c:txPr>
          <a:bodyPr/>
          <a:lstStyle/>
          <a:p>
            <a:pPr>
              <a:defRPr sz="1000" b="0" i="0" u="none" strike="noStrike">
                <a:solidFill>
                  <a:srgbClr val="8A97A0"/>
                </a:solidFill>
                <a:latin typeface="Arial"/>
              </a:defRPr>
            </a:pPr>
            <a:endParaRPr lang="en-US"/>
          </a:p>
        </c:txPr>
        <c:crossAx val="2094734554"/>
        <c:crosses val="autoZero"/>
        <c:crossBetween val="between"/>
      </c:valAx>
      <c:spPr>
        <a:solidFill>
          <a:srgbClr val="161E24"/>
        </a:solidFill>
        <a:ln>
          <a:noFill/>
        </a:ln>
        <a:effectLst/>
      </c:spPr>
    </c:plotArea>
    <c:plotVisOnly val="1"/>
    <c:dispBlanksAs val="span"/>
  </c:chart>
  <c:spPr>
    <a:solidFill>
      <a:srgbClr val="0D1216"/>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47C9C2"/>
              </a:solidFill>
              <a:effectLst/>
            </c:spPr>
          </c:dPt>
          <c:dPt>
            <c:idx val="1"/>
            <c:bubble3D val="0"/>
            <c:spPr>
              <a:solidFill>
                <a:srgbClr val="F2A93B"/>
              </a:solidFill>
              <a:effectLst/>
            </c:spPr>
          </c:dPt>
          <c:dPt>
            <c:idx val="2"/>
            <c:bubble3D val="0"/>
            <c:spPr>
              <a:solidFill>
                <a:srgbClr val="3A444C"/>
              </a:solidFill>
              <a:effectLst/>
            </c:spPr>
          </c:dPt>
          <c:dLbls>
            <c:dLbl>
              <c:idx val="0"/>
              <c:numFmt formatCode="0%" sourceLinked="0"/>
              <c:spPr/>
              <c:txPr>
                <a:bodyPr/>
                <a:lstStyle/>
                <a:p>
                  <a:pPr>
                    <a:defRPr sz="1100" b="0" i="0" u="none" strike="noStrike">
                      <a:solidFill>
                        <a:srgbClr val="0D1216"/>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0D1216"/>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0D1216"/>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Male</c:v>
                </c:pt>
                <c:pt idx="1">
                  <c:v>Female</c:v>
                </c:pt>
                <c:pt idx="2">
                  <c:v>Unknown</c:v>
                </c:pt>
              </c:strCache>
            </c:strRef>
          </c:cat>
          <c:val>
            <c:numRef>
              <c:f>Sheet1!$B$2:$B$4</c:f>
              <c:numCache>
                <c:ptCount val="3"/>
                <c:pt idx="0">
                  <c:v>8761</c:v>
                </c:pt>
                <c:pt idx="1">
                  <c:v>977</c:v>
                </c:pt>
                <c:pt idx="2">
                  <c:v>262</c:v>
                </c:pt>
              </c:numCache>
            </c:numRef>
          </c:val>
        </c:ser>
        <c:firstSliceAng val="0"/>
        <c:holeSize val="55"/>
      </c:doughnutChart>
      <c:spPr>
        <a:noFill/>
        <a:ln>
          <a:noFill/>
        </a:ln>
        <a:effectLst/>
      </c:spPr>
    </c:plotArea>
    <c:legend>
      <c:legendPos val="b"/>
      <c:overlay val="0"/>
      <c:txPr>
        <a:bodyPr/>
        <a:lstStyle/>
        <a:p>
          <a:pPr>
            <a:defRPr sz="1100">
              <a:solidFill>
                <a:srgbClr val="8A97A0"/>
              </a:solidFill>
            </a:defRPr>
          </a:pPr>
          <a:endParaRPr lang="en-US"/>
        </a:p>
      </c:txPr>
    </c:legend>
    <c:plotVisOnly val="1"/>
    <c:dispBlanksAs val="span"/>
  </c:chart>
  <c:spPr>
    <a:solidFill>
      <a:srgbClr val="0D121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Views</c:v>
                </c:pt>
              </c:strCache>
            </c:strRef>
          </c:tx>
          <c:spPr>
            <a:solidFill>
              <a:srgbClr val="47C9C2"/>
            </a:solidFill>
            <a:effectLst/>
          </c:spPr>
          <c:invertIfNegative val="0"/>
          <c:dLbls>
            <c:numFmt formatCode="#,##0" sourceLinked="0"/>
            <c:txPr>
              <a:bodyPr/>
              <a:lstStyle/>
              <a:p>
                <a:pPr>
                  <a:defRPr b="0" i="0" strike="noStrike" sz="1000" u="none">
                    <a:solidFill>
                      <a:srgbClr val="EAE7DD"/>
                    </a:solidFill>
                    <a:latin typeface="Arial"/>
                  </a:defRPr>
                </a:pPr>
              </a:p>
            </c:txPr>
            <c:showLegendKey val="0"/>
            <c:showVal val="1"/>
            <c:showCatName val="0"/>
            <c:showSerName val="0"/>
            <c:showPercent val="0"/>
            <c:showBubbleSize val="0"/>
            <c:showLeaderLines val="0"/>
          </c:dLbls>
          <c:cat>
            <c:multiLvlStrRef>
              <c:f>Sheet1!$A$2:$A$7</c:f>
              <c:multiLvlStrCache>
                <c:ptCount val="6"/>
                <c:lvl>
                  <c:pt idx="0">
                    <c:v>Infant</c:v>
                  </c:pt>
                  <c:pt idx="1">
                    <c:v>Child</c:v>
                  </c:pt>
                  <c:pt idx="2">
                    <c:v>Teenager</c:v>
                  </c:pt>
                  <c:pt idx="3">
                    <c:v>Young Adult</c:v>
                  </c:pt>
                  <c:pt idx="4">
                    <c:v>Adult</c:v>
                  </c:pt>
                  <c:pt idx="5">
                    <c:v>Pensioner</c:v>
                  </c:pt>
                </c:lvl>
              </c:multiLvlStrCache>
            </c:multiLvlStrRef>
          </c:cat>
          <c:val>
            <c:numRef>
              <c:f>Sheet1!$B$2:$B$7</c:f>
              <c:numCache>
                <c:formatCode>General</c:formatCode>
                <c:ptCount val="6"/>
                <c:pt idx="0">
                  <c:v>1</c:v>
                </c:pt>
                <c:pt idx="1">
                  <c:v>99</c:v>
                </c:pt>
                <c:pt idx="2">
                  <c:v>180</c:v>
                </c:pt>
                <c:pt idx="3">
                  <c:v>5632</c:v>
                </c:pt>
                <c:pt idx="4">
                  <c:v>3773</c:v>
                </c:pt>
                <c:pt idx="5">
                  <c:v>53</c:v>
                </c:pt>
              </c:numCache>
            </c:numRef>
          </c:val>
        </c:ser>
        <c:dLbls>
          <c:numFmt formatCode="#,##0" sourceLinked="0"/>
          <c:txPr>
            <a:bodyPr/>
            <a:lstStyle/>
            <a:p>
              <a:pPr>
                <a:defRPr b="0" i="0" strike="noStrike" sz="1000" u="none">
                  <a:solidFill>
                    <a:srgbClr val="EAE7D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32E36"/>
            </a:solidFill>
            <a:prstDash val="solid"/>
            <a:round/>
          </a:ln>
        </c:spPr>
        <c:txPr>
          <a:bodyPr/>
          <a:lstStyle/>
          <a:p>
            <a:pPr>
              <a:defRPr sz="110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232E36"/>
              </a:solidFill>
              <a:prstDash val="solid"/>
              <a:round/>
            </a:ln>
          </c:spPr>
        </c:majorGridlines>
        <c:numFmt formatCode="General" sourceLinked="0"/>
        <c:majorTickMark val="out"/>
        <c:minorTickMark val="none"/>
        <c:tickLblPos val="low"/>
        <c:spPr>
          <a:ln w="12700" cap="flat">
            <a:solidFill>
              <a:srgbClr val="232E36"/>
            </a:solidFill>
            <a:prstDash val="solid"/>
            <a:round/>
          </a:ln>
        </c:spPr>
        <c:txPr>
          <a:bodyPr/>
          <a:lstStyle/>
          <a:p>
            <a:pPr>
              <a:defRPr sz="1000" b="0" i="0" u="none" strike="noStrike">
                <a:solidFill>
                  <a:srgbClr val="8A97A0"/>
                </a:solidFill>
                <a:latin typeface="Arial"/>
              </a:defRPr>
            </a:pPr>
            <a:endParaRPr lang="en-US"/>
          </a:p>
        </c:txPr>
        <c:crossAx val="2094734554"/>
        <c:crosses val="autoZero"/>
        <c:crossBetween val="between"/>
      </c:valAx>
      <c:spPr>
        <a:solidFill>
          <a:srgbClr val="161E24"/>
        </a:solidFill>
        <a:ln>
          <a:noFill/>
        </a:ln>
        <a:effectLst/>
      </c:spPr>
    </c:plotArea>
    <c:plotVisOnly val="1"/>
    <c:dispBlanksAs val="span"/>
  </c:chart>
  <c:spPr>
    <a:solidFill>
      <a:srgbClr val="0D1216"/>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Views</c:v>
                </c:pt>
              </c:strCache>
            </c:strRef>
          </c:tx>
          <c:spPr>
            <a:solidFill>
              <a:srgbClr val="8B7FD6"/>
            </a:solidFill>
            <a:effectLst/>
          </c:spPr>
          <c:invertIfNegative val="0"/>
          <c:dLbls>
            <c:numFmt formatCode="#,##0" sourceLinked="0"/>
            <c:txPr>
              <a:bodyPr/>
              <a:lstStyle/>
              <a:p>
                <a:pPr>
                  <a:defRPr b="0" i="0" strike="noStrike" sz="1000" u="none">
                    <a:solidFill>
                      <a:srgbClr val="EAE7DD"/>
                    </a:solidFill>
                    <a:latin typeface="Arial"/>
                  </a:defRPr>
                </a:pPr>
              </a:p>
            </c:txPr>
            <c:showLegendKey val="0"/>
            <c:showVal val="1"/>
            <c:showCatName val="0"/>
            <c:showSerName val="0"/>
            <c:showPercent val="0"/>
            <c:showBubbleSize val="0"/>
            <c:showLeaderLines val="0"/>
          </c:dLbls>
          <c:cat>
            <c:multiLvlStrRef>
              <c:f>Sheet1!$A$2:$A$10</c:f>
              <c:multiLvlStrCache>
                <c:ptCount val="9"/>
                <c:lvl>
                  <c:pt idx="0">
                    <c:v>Gauteng</c:v>
                  </c:pt>
                  <c:pt idx="1">
                    <c:v>Western Cape</c:v>
                  </c:pt>
                  <c:pt idx="2">
                    <c:v>KwaZulu-Natal</c:v>
                  </c:pt>
                  <c:pt idx="3">
                    <c:v>Mpumalanga</c:v>
                  </c:pt>
                  <c:pt idx="4">
                    <c:v>Limpopo</c:v>
                  </c:pt>
                  <c:pt idx="5">
                    <c:v>Eastern Cape</c:v>
                  </c:pt>
                  <c:pt idx="6">
                    <c:v>North West</c:v>
                  </c:pt>
                  <c:pt idx="7">
                    <c:v>Free State</c:v>
                  </c:pt>
                  <c:pt idx="8">
                    <c:v>Northern Cape</c:v>
                  </c:pt>
                </c:lvl>
              </c:multiLvlStrCache>
            </c:multiLvlStrRef>
          </c:cat>
          <c:val>
            <c:numRef>
              <c:f>Sheet1!$B$2:$B$10</c:f>
              <c:numCache>
                <c:formatCode>General</c:formatCode>
                <c:ptCount val="9"/>
                <c:pt idx="0">
                  <c:v>3654</c:v>
                </c:pt>
                <c:pt idx="1">
                  <c:v>1845</c:v>
                </c:pt>
                <c:pt idx="2">
                  <c:v>1001</c:v>
                </c:pt>
                <c:pt idx="3">
                  <c:v>918</c:v>
                </c:pt>
                <c:pt idx="4">
                  <c:v>763</c:v>
                </c:pt>
                <c:pt idx="5">
                  <c:v>690</c:v>
                </c:pt>
                <c:pt idx="6">
                  <c:v>344</c:v>
                </c:pt>
                <c:pt idx="7">
                  <c:v>292</c:v>
                </c:pt>
                <c:pt idx="8">
                  <c:v>230</c:v>
                </c:pt>
              </c:numCache>
            </c:numRef>
          </c:val>
        </c:ser>
        <c:dLbls>
          <c:numFmt formatCode="#,##0" sourceLinked="0"/>
          <c:txPr>
            <a:bodyPr/>
            <a:lstStyle/>
            <a:p>
              <a:pPr>
                <a:defRPr b="0" i="0" strike="noStrike" sz="1000" u="none">
                  <a:solidFill>
                    <a:srgbClr val="EAE7D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32E36"/>
            </a:solidFill>
            <a:prstDash val="solid"/>
            <a:round/>
          </a:ln>
        </c:spPr>
        <c:txPr>
          <a:bodyPr/>
          <a:lstStyle/>
          <a:p>
            <a:pPr>
              <a:defRPr sz="105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232E36"/>
              </a:solidFill>
              <a:prstDash val="solid"/>
              <a:round/>
            </a:ln>
          </c:spPr>
        </c:majorGridlines>
        <c:numFmt formatCode="General" sourceLinked="0"/>
        <c:majorTickMark val="out"/>
        <c:minorTickMark val="none"/>
        <c:tickLblPos val="low"/>
        <c:spPr>
          <a:ln w="12700" cap="flat">
            <a:solidFill>
              <a:srgbClr val="232E36"/>
            </a:solidFill>
            <a:prstDash val="solid"/>
            <a:round/>
          </a:ln>
        </c:spPr>
        <c:txPr>
          <a:bodyPr/>
          <a:lstStyle/>
          <a:p>
            <a:pPr>
              <a:defRPr sz="1000" b="0" i="0" u="none" strike="noStrike">
                <a:solidFill>
                  <a:srgbClr val="8A97A0"/>
                </a:solidFill>
                <a:latin typeface="Arial"/>
              </a:defRPr>
            </a:pPr>
            <a:endParaRPr lang="en-US"/>
          </a:p>
        </c:txPr>
        <c:crossAx val="2094734554"/>
        <c:crosses val="autoZero"/>
        <c:crossBetween val="between"/>
      </c:valAx>
      <c:spPr>
        <a:solidFill>
          <a:srgbClr val="161E24"/>
        </a:solidFill>
        <a:ln>
          <a:noFill/>
        </a:ln>
        <a:effectLst/>
      </c:spPr>
    </c:plotArea>
    <c:plotVisOnly val="1"/>
    <c:dispBlanksAs val="span"/>
  </c:chart>
  <c:spPr>
    <a:solidFill>
      <a:srgbClr val="0D1216"/>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Views</c:v>
                </c:pt>
              </c:strCache>
            </c:strRef>
          </c:tx>
          <c:spPr>
            <a:solidFill>
              <a:srgbClr val="E8664F"/>
            </a:solidFill>
            <a:effectLst/>
          </c:spPr>
          <c:invertIfNegative val="0"/>
          <c:dLbls>
            <c:numFmt formatCode="#,##0" sourceLinked="0"/>
            <c:txPr>
              <a:bodyPr/>
              <a:lstStyle/>
              <a:p>
                <a:pPr>
                  <a:defRPr b="0" i="0" strike="noStrike" sz="950" u="none">
                    <a:solidFill>
                      <a:srgbClr val="EAE7DD"/>
                    </a:solidFill>
                    <a:latin typeface="Arial"/>
                  </a:defRPr>
                </a:pPr>
              </a:p>
            </c:txPr>
            <c:showLegendKey val="0"/>
            <c:showVal val="1"/>
            <c:showCatName val="0"/>
            <c:showSerName val="0"/>
            <c:showPercent val="0"/>
            <c:showBubbleSize val="0"/>
            <c:showLeaderLines val="0"/>
          </c:dLbls>
          <c:cat>
            <c:multiLvlStrRef>
              <c:f>Sheet1!$A$2:$A$11</c:f>
              <c:multiLvlStrCache>
                <c:ptCount val="10"/>
                <c:lvl>
                  <c:pt idx="0">
                    <c:v>Supersport Live Events</c:v>
                  </c:pt>
                  <c:pt idx="1">
                    <c:v>ICC Cricket World Cup 2011</c:v>
                  </c:pt>
                  <c:pt idx="2">
                    <c:v>Channel O</c:v>
                  </c:pt>
                  <c:pt idx="3">
                    <c:v>Trace TV</c:v>
                  </c:pt>
                  <c:pt idx="4">
                    <c:v>SuperSport Blitz</c:v>
                  </c:pt>
                  <c:pt idx="5">
                    <c:v>Africa Magic</c:v>
                  </c:pt>
                  <c:pt idx="6">
                    <c:v>Cartoon Network</c:v>
                  </c:pt>
                  <c:pt idx="7">
                    <c:v>Boomerang</c:v>
                  </c:pt>
                  <c:pt idx="8">
                    <c:v>CNN</c:v>
                  </c:pt>
                  <c:pt idx="9">
                    <c:v>E! Entertainment</c:v>
                  </c:pt>
                </c:lvl>
              </c:multiLvlStrCache>
            </c:multiLvlStrRef>
          </c:cat>
          <c:val>
            <c:numRef>
              <c:f>Sheet1!$B$2:$B$11</c:f>
              <c:numCache>
                <c:formatCode>General</c:formatCode>
                <c:ptCount val="10"/>
                <c:pt idx="0">
                  <c:v>1638</c:v>
                </c:pt>
                <c:pt idx="1">
                  <c:v>1465</c:v>
                </c:pt>
                <c:pt idx="2">
                  <c:v>1050</c:v>
                </c:pt>
                <c:pt idx="3">
                  <c:v>952</c:v>
                </c:pt>
                <c:pt idx="4">
                  <c:v>896</c:v>
                </c:pt>
                <c:pt idx="5">
                  <c:v>859</c:v>
                </c:pt>
                <c:pt idx="6">
                  <c:v>793</c:v>
                </c:pt>
                <c:pt idx="7">
                  <c:v>714</c:v>
                </c:pt>
                <c:pt idx="8">
                  <c:v>505</c:v>
                </c:pt>
                <c:pt idx="9">
                  <c:v>367</c:v>
                </c:pt>
              </c:numCache>
            </c:numRef>
          </c:val>
        </c:ser>
        <c:dLbls>
          <c:numFmt formatCode="#,##0" sourceLinked="0"/>
          <c:txPr>
            <a:bodyPr/>
            <a:lstStyle/>
            <a:p>
              <a:pPr>
                <a:defRPr b="0" i="0" strike="noStrike" sz="950" u="none">
                  <a:solidFill>
                    <a:srgbClr val="EAE7D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232E36"/>
            </a:solidFill>
            <a:prstDash val="solid"/>
            <a:round/>
          </a:ln>
        </c:spPr>
        <c:txPr>
          <a:bodyPr/>
          <a:lstStyle/>
          <a:p>
            <a:pPr>
              <a:defRPr sz="95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232E36"/>
              </a:solidFill>
              <a:prstDash val="solid"/>
              <a:round/>
            </a:ln>
          </c:spPr>
        </c:majorGridlines>
        <c:numFmt formatCode="General" sourceLinked="0"/>
        <c:majorTickMark val="out"/>
        <c:minorTickMark val="none"/>
        <c:tickLblPos val="low"/>
        <c:spPr>
          <a:ln w="12700" cap="flat">
            <a:solidFill>
              <a:srgbClr val="232E36"/>
            </a:solidFill>
            <a:prstDash val="solid"/>
            <a:round/>
          </a:ln>
        </c:spPr>
        <c:txPr>
          <a:bodyPr/>
          <a:lstStyle/>
          <a:p>
            <a:pPr>
              <a:defRPr sz="1000" b="0" i="0" u="none" strike="noStrike">
                <a:solidFill>
                  <a:srgbClr val="8A97A0"/>
                </a:solidFill>
                <a:latin typeface="Arial"/>
              </a:defRPr>
            </a:pPr>
            <a:endParaRPr lang="en-US"/>
          </a:p>
        </c:txPr>
        <c:crossAx val="2094734554"/>
        <c:crosses val="autoZero"/>
        <c:crossBetween val="between"/>
      </c:valAx>
      <c:spPr>
        <a:solidFill>
          <a:srgbClr val="161E24"/>
        </a:solidFill>
        <a:ln>
          <a:noFill/>
        </a:ln>
        <a:effectLst/>
      </c:spPr>
    </c:plotArea>
    <c:plotVisOnly val="1"/>
    <c:dispBlanksAs val="span"/>
  </c:chart>
  <c:spPr>
    <a:solidFill>
      <a:srgbClr val="0D1216"/>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Views</c:v>
                </c:pt>
              </c:strCache>
            </c:strRef>
          </c:tx>
          <c:spPr>
            <a:solidFill>
              <a:srgbClr val="F2A93B"/>
            </a:solidFill>
            <a:effectLst/>
          </c:spPr>
          <c:invertIfNegative val="0"/>
          <c:dLbls>
            <c:numFmt formatCode="#,##0" sourceLinked="0"/>
            <c:txPr>
              <a:bodyPr/>
              <a:lstStyle/>
              <a:p>
                <a:pPr>
                  <a:defRPr b="0" i="0" strike="noStrike" sz="1000" u="none">
                    <a:solidFill>
                      <a:srgbClr val="EAE7DD"/>
                    </a:solidFill>
                    <a:latin typeface="Arial"/>
                  </a:defRPr>
                </a:pPr>
              </a:p>
            </c:txPr>
            <c:showLegendKey val="0"/>
            <c:showVal val="1"/>
            <c:showCatName val="0"/>
            <c:showSerName val="0"/>
            <c:showPercent val="0"/>
            <c:showBubbleSize val="0"/>
            <c:showLeaderLines val="0"/>
          </c:dLbls>
          <c:cat>
            <c:multiLvlStrRef>
              <c:f>Sheet1!$A$2:$A$6</c:f>
              <c:multiLvlStrCache>
                <c:ptCount val="5"/>
                <c:lvl>
                  <c:pt idx="0">
                    <c:v>Black</c:v>
                  </c:pt>
                  <c:pt idx="1">
                    <c:v>Coloured</c:v>
                  </c:pt>
                  <c:pt idx="2">
                    <c:v>Indian / Asian</c:v>
                  </c:pt>
                  <c:pt idx="3">
                    <c:v>White</c:v>
                  </c:pt>
                  <c:pt idx="4">
                    <c:v>Unspecified</c:v>
                  </c:pt>
                </c:lvl>
              </c:multiLvlStrCache>
            </c:multiLvlStrRef>
          </c:cat>
          <c:val>
            <c:numRef>
              <c:f>Sheet1!$B$2:$B$6</c:f>
              <c:numCache>
                <c:formatCode>General</c:formatCode>
                <c:ptCount val="5"/>
                <c:pt idx="0">
                  <c:v>4331</c:v>
                </c:pt>
                <c:pt idx="1">
                  <c:v>1633</c:v>
                </c:pt>
                <c:pt idx="2">
                  <c:v>1575</c:v>
                </c:pt>
                <c:pt idx="3">
                  <c:v>1292</c:v>
                </c:pt>
                <c:pt idx="4">
                  <c:v>907</c:v>
                </c:pt>
              </c:numCache>
            </c:numRef>
          </c:val>
        </c:ser>
        <c:dLbls>
          <c:numFmt formatCode="#,##0" sourceLinked="0"/>
          <c:txPr>
            <a:bodyPr/>
            <a:lstStyle/>
            <a:p>
              <a:pPr>
                <a:defRPr b="0" i="0" strike="noStrike" sz="1000" u="none">
                  <a:solidFill>
                    <a:srgbClr val="EAE7D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32E36"/>
            </a:solidFill>
            <a:prstDash val="solid"/>
            <a:round/>
          </a:ln>
        </c:spPr>
        <c:txPr>
          <a:bodyPr/>
          <a:lstStyle/>
          <a:p>
            <a:pPr>
              <a:defRPr sz="110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32E36"/>
              </a:solidFill>
              <a:prstDash val="solid"/>
              <a:round/>
            </a:ln>
          </c:spPr>
        </c:majorGridlines>
        <c:numFmt formatCode="General" sourceLinked="0"/>
        <c:majorTickMark val="out"/>
        <c:minorTickMark val="none"/>
        <c:tickLblPos val="nextTo"/>
        <c:spPr>
          <a:ln w="12700" cap="flat">
            <a:solidFill>
              <a:srgbClr val="232E36"/>
            </a:solidFill>
            <a:prstDash val="solid"/>
            <a:round/>
          </a:ln>
        </c:spPr>
        <c:txPr>
          <a:bodyPr/>
          <a:lstStyle/>
          <a:p>
            <a:pPr>
              <a:defRPr sz="1000" b="0" i="0" u="none" strike="noStrike">
                <a:solidFill>
                  <a:srgbClr val="8A97A0"/>
                </a:solidFill>
                <a:latin typeface="Arial"/>
              </a:defRPr>
            </a:pPr>
            <a:endParaRPr lang="en-US"/>
          </a:p>
        </c:txPr>
        <c:crossAx val="2094734554"/>
        <c:crosses val="autoZero"/>
        <c:crossBetween val="between"/>
      </c:valAx>
      <c:spPr>
        <a:solidFill>
          <a:srgbClr val="161E24"/>
        </a:solidFill>
        <a:ln>
          <a:noFill/>
        </a:ln>
        <a:effectLst/>
      </c:spPr>
    </c:plotArea>
    <c:plotVisOnly val="1"/>
    <c:dispBlanksAs val="span"/>
  </c:chart>
  <c:spPr>
    <a:solidFill>
      <a:srgbClr val="0D1216"/>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Views</c:v>
                </c:pt>
              </c:strCache>
            </c:strRef>
          </c:tx>
          <c:spPr>
            <a:solidFill>
              <a:srgbClr val="8B7FD6"/>
            </a:solidFill>
            <a:effectLst/>
          </c:spPr>
          <c:invertIfNegative val="0"/>
          <c:dLbls>
            <c:numFmt formatCode="#,##0" sourceLinked="0"/>
            <c:txPr>
              <a:bodyPr/>
              <a:lstStyle/>
              <a:p>
                <a:pPr>
                  <a:defRPr b="0" i="0" strike="noStrike" sz="1000" u="none">
                    <a:solidFill>
                      <a:srgbClr val="EAE7DD"/>
                    </a:solidFill>
                    <a:latin typeface="Arial"/>
                  </a:defRPr>
                </a:pPr>
              </a:p>
            </c:txPr>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974</c:v>
                </c:pt>
                <c:pt idx="1">
                  <c:v>1321</c:v>
                </c:pt>
                <c:pt idx="2">
                  <c:v>1539</c:v>
                </c:pt>
                <c:pt idx="3">
                  <c:v>1471</c:v>
                </c:pt>
                <c:pt idx="4">
                  <c:v>1642</c:v>
                </c:pt>
                <c:pt idx="5">
                  <c:v>1655</c:v>
                </c:pt>
                <c:pt idx="6">
                  <c:v>1398</c:v>
                </c:pt>
              </c:numCache>
            </c:numRef>
          </c:val>
        </c:ser>
        <c:dLbls>
          <c:numFmt formatCode="#,##0" sourceLinked="0"/>
          <c:txPr>
            <a:bodyPr/>
            <a:lstStyle/>
            <a:p>
              <a:pPr>
                <a:defRPr b="0" i="0" strike="noStrike" sz="1000" u="none">
                  <a:solidFill>
                    <a:srgbClr val="EAE7D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32E36"/>
            </a:solidFill>
            <a:prstDash val="solid"/>
            <a:round/>
          </a:ln>
        </c:spPr>
        <c:txPr>
          <a:bodyPr/>
          <a:lstStyle/>
          <a:p>
            <a:pPr>
              <a:defRPr sz="110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32E36"/>
              </a:solidFill>
              <a:prstDash val="solid"/>
              <a:round/>
            </a:ln>
          </c:spPr>
        </c:majorGridlines>
        <c:numFmt formatCode="General" sourceLinked="0"/>
        <c:majorTickMark val="out"/>
        <c:minorTickMark val="none"/>
        <c:tickLblPos val="nextTo"/>
        <c:spPr>
          <a:ln w="12700" cap="flat">
            <a:solidFill>
              <a:srgbClr val="232E36"/>
            </a:solidFill>
            <a:prstDash val="solid"/>
            <a:round/>
          </a:ln>
        </c:spPr>
        <c:txPr>
          <a:bodyPr/>
          <a:lstStyle/>
          <a:p>
            <a:pPr>
              <a:defRPr sz="1000" b="0" i="0" u="none" strike="noStrike">
                <a:solidFill>
                  <a:srgbClr val="8A97A0"/>
                </a:solidFill>
                <a:latin typeface="Arial"/>
              </a:defRPr>
            </a:pPr>
            <a:endParaRPr lang="en-US"/>
          </a:p>
        </c:txPr>
        <c:crossAx val="2094734554"/>
        <c:crosses val="autoZero"/>
        <c:crossBetween val="between"/>
      </c:valAx>
      <c:spPr>
        <a:solidFill>
          <a:srgbClr val="161E24"/>
        </a:solidFill>
        <a:ln>
          <a:noFill/>
        </a:ln>
        <a:effectLst/>
      </c:spPr>
    </c:plotArea>
    <c:plotVisOnly val="1"/>
    <c:dispBlanksAs val="span"/>
  </c:chart>
  <c:spPr>
    <a:solidFill>
      <a:srgbClr val="0D1216"/>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121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822960"/>
            <a:ext cx="640080" cy="640080"/>
          </a:xfrm>
          <a:prstGeom prst="roundRect">
            <a:avLst>
              <a:gd name="adj" fmla="val 20000"/>
            </a:avLst>
          </a:prstGeom>
          <a:solidFill>
            <a:srgbClr val="F2A93B"/>
          </a:solidFill>
          <a:ln/>
        </p:spPr>
      </p:sp>
      <p:sp>
        <p:nvSpPr>
          <p:cNvPr id="3" name="Text 1"/>
          <p:cNvSpPr/>
          <p:nvPr/>
        </p:nvSpPr>
        <p:spPr>
          <a:xfrm>
            <a:off x="822960" y="822960"/>
            <a:ext cx="640080" cy="640080"/>
          </a:xfrm>
          <a:prstGeom prst="rect">
            <a:avLst/>
          </a:prstGeom>
          <a:noFill/>
          <a:ln/>
        </p:spPr>
        <p:txBody>
          <a:bodyPr wrap="square" rtlCol="0" anchor="ctr"/>
          <a:lstStyle/>
          <a:p>
            <a:pPr algn="ctr" indent="0" marL="0">
              <a:buNone/>
            </a:pPr>
            <a:r>
              <a:rPr lang="en-US" sz="2380" b="1" dirty="0">
                <a:solidFill>
                  <a:srgbClr val="0D1216"/>
                </a:solidFill>
                <a:latin typeface="Century Schoolbook" pitchFamily="34" charset="0"/>
                <a:ea typeface="Century Schoolbook" pitchFamily="34" charset="-122"/>
                <a:cs typeface="Century Schoolbook" pitchFamily="34" charset="-120"/>
              </a:rPr>
              <a:t>B</a:t>
            </a:r>
            <a:endParaRPr lang="en-US" sz="2380" dirty="0"/>
          </a:p>
        </p:txBody>
      </p:sp>
      <p:sp>
        <p:nvSpPr>
          <p:cNvPr id="4" name="Text 2"/>
          <p:cNvSpPr/>
          <p:nvPr/>
        </p:nvSpPr>
        <p:spPr>
          <a:xfrm>
            <a:off x="777240" y="2331720"/>
            <a:ext cx="9144000" cy="1005840"/>
          </a:xfrm>
          <a:prstGeom prst="rect">
            <a:avLst/>
          </a:prstGeom>
          <a:noFill/>
          <a:ln/>
        </p:spPr>
        <p:txBody>
          <a:bodyPr wrap="square" rtlCol="0" anchor="ctr"/>
          <a:lstStyle/>
          <a:p>
            <a:pPr indent="0" marL="0">
              <a:buNone/>
            </a:pPr>
            <a:r>
              <a:rPr lang="en-US" sz="5400" b="1" spc="200" kern="0" dirty="0">
                <a:solidFill>
                  <a:srgbClr val="EAE7DD"/>
                </a:solidFill>
                <a:latin typeface="Century Schoolbook" pitchFamily="34" charset="0"/>
                <a:ea typeface="Century Schoolbook" pitchFamily="34" charset="-122"/>
                <a:cs typeface="Century Schoolbook" pitchFamily="34" charset="-120"/>
              </a:rPr>
              <a:t>BRIGHTTV</a:t>
            </a:r>
            <a:endParaRPr lang="en-US" sz="5400" dirty="0"/>
          </a:p>
        </p:txBody>
      </p:sp>
      <p:sp>
        <p:nvSpPr>
          <p:cNvPr id="5" name="Text 3"/>
          <p:cNvSpPr/>
          <p:nvPr/>
        </p:nvSpPr>
        <p:spPr>
          <a:xfrm>
            <a:off x="822960" y="3246120"/>
            <a:ext cx="9144000" cy="548640"/>
          </a:xfrm>
          <a:prstGeom prst="rect">
            <a:avLst/>
          </a:prstGeom>
          <a:noFill/>
          <a:ln/>
        </p:spPr>
        <p:txBody>
          <a:bodyPr wrap="square" rtlCol="0" anchor="ctr"/>
          <a:lstStyle/>
          <a:p>
            <a:pPr indent="0" marL="0">
              <a:buNone/>
            </a:pPr>
            <a:r>
              <a:rPr lang="en-US" sz="2000" dirty="0">
                <a:solidFill>
                  <a:srgbClr val="F2A93B"/>
                </a:solidFill>
                <a:latin typeface="Arial" pitchFamily="34" charset="0"/>
                <a:ea typeface="Arial" pitchFamily="34" charset="-122"/>
                <a:cs typeface="Arial" pitchFamily="34" charset="-120"/>
              </a:rPr>
              <a:t>Subscriber Viewership Intelligence</a:t>
            </a:r>
            <a:endParaRPr lang="en-US" sz="2000" dirty="0"/>
          </a:p>
        </p:txBody>
      </p:sp>
      <p:sp>
        <p:nvSpPr>
          <p:cNvPr id="6" name="Shape 4"/>
          <p:cNvSpPr/>
          <p:nvPr/>
        </p:nvSpPr>
        <p:spPr>
          <a:xfrm>
            <a:off x="822960" y="3886200"/>
            <a:ext cx="2926080" cy="0"/>
          </a:xfrm>
          <a:prstGeom prst="line">
            <a:avLst/>
          </a:prstGeom>
          <a:noFill/>
          <a:ln w="12700">
            <a:solidFill>
              <a:srgbClr val="232E36"/>
            </a:solidFill>
            <a:prstDash val="solid"/>
          </a:ln>
        </p:spPr>
      </p:sp>
      <p:sp>
        <p:nvSpPr>
          <p:cNvPr id="7" name="Text 5"/>
          <p:cNvSpPr/>
          <p:nvPr/>
        </p:nvSpPr>
        <p:spPr>
          <a:xfrm>
            <a:off x="822960" y="4069080"/>
            <a:ext cx="9144000" cy="36576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Q1 2016 Viewership &amp; Subscriber Analysis  ·  10,000 subscriber records</a:t>
            </a:r>
            <a:endParaRPr lang="en-US" sz="1300" dirty="0"/>
          </a:p>
        </p:txBody>
      </p:sp>
      <p:sp>
        <p:nvSpPr>
          <p:cNvPr id="8" name="Text 6"/>
          <p:cNvSpPr/>
          <p:nvPr/>
        </p:nvSpPr>
        <p:spPr>
          <a:xfrm>
            <a:off x="822960" y="5989320"/>
            <a:ext cx="5486400" cy="36576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Presented by Jafter Selaelo</a:t>
            </a:r>
            <a:endParaRPr lang="en-US" sz="1300" dirty="0"/>
          </a:p>
        </p:txBody>
      </p:sp>
      <p:sp>
        <p:nvSpPr>
          <p:cNvPr id="9" name="Shape 7"/>
          <p:cNvSpPr/>
          <p:nvPr/>
        </p:nvSpPr>
        <p:spPr>
          <a:xfrm>
            <a:off x="822960" y="6108192"/>
            <a:ext cx="82296" cy="82296"/>
          </a:xfrm>
          <a:prstGeom prst="ellipse">
            <a:avLst/>
          </a:prstGeom>
          <a:solidFill>
            <a:srgbClr val="E8664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00</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Agenda</a:t>
            </a:r>
            <a:endParaRPr lang="en-US" sz="3000" dirty="0"/>
          </a:p>
        </p:txBody>
      </p:sp>
      <p:sp>
        <p:nvSpPr>
          <p:cNvPr id="4" name="Shape 2"/>
          <p:cNvSpPr/>
          <p:nvPr/>
        </p:nvSpPr>
        <p:spPr>
          <a:xfrm>
            <a:off x="548640" y="1783080"/>
            <a:ext cx="457200" cy="457200"/>
          </a:xfrm>
          <a:prstGeom prst="ellipse">
            <a:avLst/>
          </a:prstGeom>
          <a:solidFill>
            <a:srgbClr val="161E24"/>
          </a:solidFill>
          <a:ln w="19050">
            <a:solidFill>
              <a:srgbClr val="F2A93B"/>
            </a:solidFill>
            <a:prstDash val="solid"/>
          </a:ln>
        </p:spPr>
      </p:sp>
      <p:sp>
        <p:nvSpPr>
          <p:cNvPr id="5" name="Text 3"/>
          <p:cNvSpPr/>
          <p:nvPr/>
        </p:nvSpPr>
        <p:spPr>
          <a:xfrm>
            <a:off x="548640" y="1783080"/>
            <a:ext cx="457200" cy="457200"/>
          </a:xfrm>
          <a:prstGeom prst="rect">
            <a:avLst/>
          </a:prstGeom>
          <a:noFill/>
          <a:ln/>
        </p:spPr>
        <p:txBody>
          <a:bodyPr wrap="square" rtlCol="0" anchor="ctr"/>
          <a:lstStyle/>
          <a:p>
            <a:pPr algn="ctr" indent="0" marL="0">
              <a:buNone/>
            </a:pPr>
            <a:r>
              <a:rPr lang="en-US" sz="1400" b="1" dirty="0">
                <a:solidFill>
                  <a:srgbClr val="F2A93B"/>
                </a:solidFill>
                <a:latin typeface="Courier New" pitchFamily="34" charset="0"/>
                <a:ea typeface="Courier New" pitchFamily="34" charset="-122"/>
                <a:cs typeface="Courier New" pitchFamily="34" charset="-120"/>
              </a:rPr>
              <a:t>01</a:t>
            </a:r>
            <a:endParaRPr lang="en-US" sz="1400" dirty="0"/>
          </a:p>
        </p:txBody>
      </p:sp>
      <p:sp>
        <p:nvSpPr>
          <p:cNvPr id="6" name="Text 4"/>
          <p:cNvSpPr/>
          <p:nvPr/>
        </p:nvSpPr>
        <p:spPr>
          <a:xfrm>
            <a:off x="1234440" y="1764792"/>
            <a:ext cx="5120640" cy="274320"/>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Project Context</a:t>
            </a:r>
            <a:endParaRPr lang="en-US" sz="1500" dirty="0"/>
          </a:p>
        </p:txBody>
      </p:sp>
      <p:sp>
        <p:nvSpPr>
          <p:cNvPr id="7" name="Text 5"/>
          <p:cNvSpPr/>
          <p:nvPr/>
        </p:nvSpPr>
        <p:spPr>
          <a:xfrm>
            <a:off x="1234440" y="2029968"/>
            <a:ext cx="7772400" cy="274320"/>
          </a:xfrm>
          <a:prstGeom prst="rect">
            <a:avLst/>
          </a:prstGeom>
          <a:noFill/>
          <a:ln/>
        </p:spPr>
        <p:txBody>
          <a:bodyPr wrap="square" rtlCol="0" anchor="ctr"/>
          <a:lstStyle/>
          <a:p>
            <a:pPr indent="0" marL="0">
              <a:buNone/>
            </a:pPr>
            <a:r>
              <a:rPr lang="en-US" sz="1150" dirty="0">
                <a:solidFill>
                  <a:srgbClr val="8A97A0"/>
                </a:solidFill>
                <a:latin typeface="Arial" pitchFamily="34" charset="0"/>
                <a:ea typeface="Arial" pitchFamily="34" charset="-122"/>
                <a:cs typeface="Arial" pitchFamily="34" charset="-120"/>
              </a:rPr>
              <a:t>Why this analysis matters and what it covers</a:t>
            </a:r>
            <a:endParaRPr lang="en-US" sz="1150" dirty="0"/>
          </a:p>
        </p:txBody>
      </p:sp>
      <p:sp>
        <p:nvSpPr>
          <p:cNvPr id="8" name="Shape 6"/>
          <p:cNvSpPr/>
          <p:nvPr/>
        </p:nvSpPr>
        <p:spPr>
          <a:xfrm>
            <a:off x="548640" y="2496312"/>
            <a:ext cx="457200" cy="457200"/>
          </a:xfrm>
          <a:prstGeom prst="ellipse">
            <a:avLst/>
          </a:prstGeom>
          <a:solidFill>
            <a:srgbClr val="161E24"/>
          </a:solidFill>
          <a:ln w="19050">
            <a:solidFill>
              <a:srgbClr val="47C9C2"/>
            </a:solidFill>
            <a:prstDash val="solid"/>
          </a:ln>
        </p:spPr>
      </p:sp>
      <p:sp>
        <p:nvSpPr>
          <p:cNvPr id="9" name="Text 7"/>
          <p:cNvSpPr/>
          <p:nvPr/>
        </p:nvSpPr>
        <p:spPr>
          <a:xfrm>
            <a:off x="548640" y="2496312"/>
            <a:ext cx="457200" cy="457200"/>
          </a:xfrm>
          <a:prstGeom prst="rect">
            <a:avLst/>
          </a:prstGeom>
          <a:noFill/>
          <a:ln/>
        </p:spPr>
        <p:txBody>
          <a:bodyPr wrap="square" rtlCol="0" anchor="ctr"/>
          <a:lstStyle/>
          <a:p>
            <a:pPr algn="ctr" indent="0" marL="0">
              <a:buNone/>
            </a:pPr>
            <a:r>
              <a:rPr lang="en-US" sz="1400" b="1" dirty="0">
                <a:solidFill>
                  <a:srgbClr val="47C9C2"/>
                </a:solidFill>
                <a:latin typeface="Courier New" pitchFamily="34" charset="0"/>
                <a:ea typeface="Courier New" pitchFamily="34" charset="-122"/>
                <a:cs typeface="Courier New" pitchFamily="34" charset="-120"/>
              </a:rPr>
              <a:t>02</a:t>
            </a:r>
            <a:endParaRPr lang="en-US" sz="1400" dirty="0"/>
          </a:p>
        </p:txBody>
      </p:sp>
      <p:sp>
        <p:nvSpPr>
          <p:cNvPr id="10" name="Text 8"/>
          <p:cNvSpPr/>
          <p:nvPr/>
        </p:nvSpPr>
        <p:spPr>
          <a:xfrm>
            <a:off x="1234440" y="2478024"/>
            <a:ext cx="5120640" cy="274320"/>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Dataset Overview</a:t>
            </a:r>
            <a:endParaRPr lang="en-US" sz="1500" dirty="0"/>
          </a:p>
        </p:txBody>
      </p:sp>
      <p:sp>
        <p:nvSpPr>
          <p:cNvPr id="11" name="Text 9"/>
          <p:cNvSpPr/>
          <p:nvPr/>
        </p:nvSpPr>
        <p:spPr>
          <a:xfrm>
            <a:off x="1234440" y="2743200"/>
            <a:ext cx="7772400" cy="274320"/>
          </a:xfrm>
          <a:prstGeom prst="rect">
            <a:avLst/>
          </a:prstGeom>
          <a:noFill/>
          <a:ln/>
        </p:spPr>
        <p:txBody>
          <a:bodyPr wrap="square" rtlCol="0" anchor="ctr"/>
          <a:lstStyle/>
          <a:p>
            <a:pPr indent="0" marL="0">
              <a:buNone/>
            </a:pPr>
            <a:r>
              <a:rPr lang="en-US" sz="1150" dirty="0">
                <a:solidFill>
                  <a:srgbClr val="8A97A0"/>
                </a:solidFill>
                <a:latin typeface="Arial" pitchFamily="34" charset="0"/>
                <a:ea typeface="Arial" pitchFamily="34" charset="-122"/>
                <a:cs typeface="Arial" pitchFamily="34" charset="-120"/>
              </a:rPr>
              <a:t>Subscribers, active users, sessions and channels</a:t>
            </a:r>
            <a:endParaRPr lang="en-US" sz="1150" dirty="0"/>
          </a:p>
        </p:txBody>
      </p:sp>
      <p:sp>
        <p:nvSpPr>
          <p:cNvPr id="12" name="Shape 10"/>
          <p:cNvSpPr/>
          <p:nvPr/>
        </p:nvSpPr>
        <p:spPr>
          <a:xfrm>
            <a:off x="548640" y="3209544"/>
            <a:ext cx="457200" cy="457200"/>
          </a:xfrm>
          <a:prstGeom prst="ellipse">
            <a:avLst/>
          </a:prstGeom>
          <a:solidFill>
            <a:srgbClr val="161E24"/>
          </a:solidFill>
          <a:ln w="19050">
            <a:solidFill>
              <a:srgbClr val="E8664F"/>
            </a:solidFill>
            <a:prstDash val="solid"/>
          </a:ln>
        </p:spPr>
      </p:sp>
      <p:sp>
        <p:nvSpPr>
          <p:cNvPr id="13" name="Text 11"/>
          <p:cNvSpPr/>
          <p:nvPr/>
        </p:nvSpPr>
        <p:spPr>
          <a:xfrm>
            <a:off x="548640" y="3209544"/>
            <a:ext cx="457200" cy="457200"/>
          </a:xfrm>
          <a:prstGeom prst="rect">
            <a:avLst/>
          </a:prstGeom>
          <a:noFill/>
          <a:ln/>
        </p:spPr>
        <p:txBody>
          <a:bodyPr wrap="square" rtlCol="0" anchor="ctr"/>
          <a:lstStyle/>
          <a:p>
            <a:pPr algn="ctr" indent="0" marL="0">
              <a:buNone/>
            </a:pPr>
            <a:r>
              <a:rPr lang="en-US" sz="1400" b="1" dirty="0">
                <a:solidFill>
                  <a:srgbClr val="E8664F"/>
                </a:solidFill>
                <a:latin typeface="Courier New" pitchFamily="34" charset="0"/>
                <a:ea typeface="Courier New" pitchFamily="34" charset="-122"/>
                <a:cs typeface="Courier New" pitchFamily="34" charset="-120"/>
              </a:rPr>
              <a:t>03</a:t>
            </a:r>
            <a:endParaRPr lang="en-US" sz="1400" dirty="0"/>
          </a:p>
        </p:txBody>
      </p:sp>
      <p:sp>
        <p:nvSpPr>
          <p:cNvPr id="14" name="Text 12"/>
          <p:cNvSpPr/>
          <p:nvPr/>
        </p:nvSpPr>
        <p:spPr>
          <a:xfrm>
            <a:off x="1234440" y="3191256"/>
            <a:ext cx="5120640" cy="274320"/>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Usage &amp; Viewership Trends</a:t>
            </a:r>
            <a:endParaRPr lang="en-US" sz="1500" dirty="0"/>
          </a:p>
        </p:txBody>
      </p:sp>
      <p:sp>
        <p:nvSpPr>
          <p:cNvPr id="15" name="Text 13"/>
          <p:cNvSpPr/>
          <p:nvPr/>
        </p:nvSpPr>
        <p:spPr>
          <a:xfrm>
            <a:off x="1234440" y="3456432"/>
            <a:ext cx="7772400" cy="274320"/>
          </a:xfrm>
          <a:prstGeom prst="rect">
            <a:avLst/>
          </a:prstGeom>
          <a:noFill/>
          <a:ln/>
        </p:spPr>
        <p:txBody>
          <a:bodyPr wrap="square" rtlCol="0" anchor="ctr"/>
          <a:lstStyle/>
          <a:p>
            <a:pPr indent="0" marL="0">
              <a:buNone/>
            </a:pPr>
            <a:r>
              <a:rPr lang="en-US" sz="1150" dirty="0">
                <a:solidFill>
                  <a:srgbClr val="8A97A0"/>
                </a:solidFill>
                <a:latin typeface="Arial" pitchFamily="34" charset="0"/>
                <a:ea typeface="Arial" pitchFamily="34" charset="-122"/>
                <a:cs typeface="Arial" pitchFamily="34" charset="-120"/>
              </a:rPr>
              <a:t>How consumption evolved across the quarter</a:t>
            </a:r>
            <a:endParaRPr lang="en-US" sz="1150" dirty="0"/>
          </a:p>
        </p:txBody>
      </p:sp>
      <p:sp>
        <p:nvSpPr>
          <p:cNvPr id="16" name="Shape 14"/>
          <p:cNvSpPr/>
          <p:nvPr/>
        </p:nvSpPr>
        <p:spPr>
          <a:xfrm>
            <a:off x="548640" y="3922776"/>
            <a:ext cx="457200" cy="457200"/>
          </a:xfrm>
          <a:prstGeom prst="ellipse">
            <a:avLst/>
          </a:prstGeom>
          <a:solidFill>
            <a:srgbClr val="161E24"/>
          </a:solidFill>
          <a:ln w="19050">
            <a:solidFill>
              <a:srgbClr val="8B7FD6"/>
            </a:solidFill>
            <a:prstDash val="solid"/>
          </a:ln>
        </p:spPr>
      </p:sp>
      <p:sp>
        <p:nvSpPr>
          <p:cNvPr id="17" name="Text 15"/>
          <p:cNvSpPr/>
          <p:nvPr/>
        </p:nvSpPr>
        <p:spPr>
          <a:xfrm>
            <a:off x="548640" y="3922776"/>
            <a:ext cx="457200" cy="457200"/>
          </a:xfrm>
          <a:prstGeom prst="rect">
            <a:avLst/>
          </a:prstGeom>
          <a:noFill/>
          <a:ln/>
        </p:spPr>
        <p:txBody>
          <a:bodyPr wrap="square" rtlCol="0" anchor="ctr"/>
          <a:lstStyle/>
          <a:p>
            <a:pPr algn="ctr" indent="0" marL="0">
              <a:buNone/>
            </a:pPr>
            <a:r>
              <a:rPr lang="en-US" sz="1400" b="1" dirty="0">
                <a:solidFill>
                  <a:srgbClr val="8B7FD6"/>
                </a:solidFill>
                <a:latin typeface="Courier New" pitchFamily="34" charset="0"/>
                <a:ea typeface="Courier New" pitchFamily="34" charset="-122"/>
                <a:cs typeface="Courier New" pitchFamily="34" charset="-120"/>
              </a:rPr>
              <a:t>04</a:t>
            </a:r>
            <a:endParaRPr lang="en-US" sz="1400" dirty="0"/>
          </a:p>
        </p:txBody>
      </p:sp>
      <p:sp>
        <p:nvSpPr>
          <p:cNvPr id="18" name="Text 16"/>
          <p:cNvSpPr/>
          <p:nvPr/>
        </p:nvSpPr>
        <p:spPr>
          <a:xfrm>
            <a:off x="1234440" y="3904488"/>
            <a:ext cx="5120640" cy="274320"/>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Audience Analysis</a:t>
            </a:r>
            <a:endParaRPr lang="en-US" sz="1500" dirty="0"/>
          </a:p>
        </p:txBody>
      </p:sp>
      <p:sp>
        <p:nvSpPr>
          <p:cNvPr id="19" name="Text 17"/>
          <p:cNvSpPr/>
          <p:nvPr/>
        </p:nvSpPr>
        <p:spPr>
          <a:xfrm>
            <a:off x="1234440" y="4169664"/>
            <a:ext cx="7772400" cy="274320"/>
          </a:xfrm>
          <a:prstGeom prst="rect">
            <a:avLst/>
          </a:prstGeom>
          <a:noFill/>
          <a:ln/>
        </p:spPr>
        <p:txBody>
          <a:bodyPr wrap="square" rtlCol="0" anchor="ctr"/>
          <a:lstStyle/>
          <a:p>
            <a:pPr indent="0" marL="0">
              <a:buNone/>
            </a:pPr>
            <a:r>
              <a:rPr lang="en-US" sz="1150" dirty="0">
                <a:solidFill>
                  <a:srgbClr val="8A97A0"/>
                </a:solidFill>
                <a:latin typeface="Arial" pitchFamily="34" charset="0"/>
                <a:ea typeface="Arial" pitchFamily="34" charset="-122"/>
                <a:cs typeface="Arial" pitchFamily="34" charset="-120"/>
              </a:rPr>
              <a:t>Gender, age, province and ethnic group breakdowns</a:t>
            </a:r>
            <a:endParaRPr lang="en-US" sz="1150" dirty="0"/>
          </a:p>
        </p:txBody>
      </p:sp>
      <p:sp>
        <p:nvSpPr>
          <p:cNvPr id="20" name="Shape 18"/>
          <p:cNvSpPr/>
          <p:nvPr/>
        </p:nvSpPr>
        <p:spPr>
          <a:xfrm>
            <a:off x="548640" y="4636008"/>
            <a:ext cx="457200" cy="457200"/>
          </a:xfrm>
          <a:prstGeom prst="ellipse">
            <a:avLst/>
          </a:prstGeom>
          <a:solidFill>
            <a:srgbClr val="161E24"/>
          </a:solidFill>
          <a:ln w="19050">
            <a:solidFill>
              <a:srgbClr val="F2A93B"/>
            </a:solidFill>
            <a:prstDash val="solid"/>
          </a:ln>
        </p:spPr>
      </p:sp>
      <p:sp>
        <p:nvSpPr>
          <p:cNvPr id="21" name="Text 19"/>
          <p:cNvSpPr/>
          <p:nvPr/>
        </p:nvSpPr>
        <p:spPr>
          <a:xfrm>
            <a:off x="548640" y="4636008"/>
            <a:ext cx="457200" cy="457200"/>
          </a:xfrm>
          <a:prstGeom prst="rect">
            <a:avLst/>
          </a:prstGeom>
          <a:noFill/>
          <a:ln/>
        </p:spPr>
        <p:txBody>
          <a:bodyPr wrap="square" rtlCol="0" anchor="ctr"/>
          <a:lstStyle/>
          <a:p>
            <a:pPr algn="ctr" indent="0" marL="0">
              <a:buNone/>
            </a:pPr>
            <a:r>
              <a:rPr lang="en-US" sz="1400" b="1" dirty="0">
                <a:solidFill>
                  <a:srgbClr val="F2A93B"/>
                </a:solidFill>
                <a:latin typeface="Courier New" pitchFamily="34" charset="0"/>
                <a:ea typeface="Courier New" pitchFamily="34" charset="-122"/>
                <a:cs typeface="Courier New" pitchFamily="34" charset="-120"/>
              </a:rPr>
              <a:t>05</a:t>
            </a:r>
            <a:endParaRPr lang="en-US" sz="1400" dirty="0"/>
          </a:p>
        </p:txBody>
      </p:sp>
      <p:sp>
        <p:nvSpPr>
          <p:cNvPr id="22" name="Text 20"/>
          <p:cNvSpPr/>
          <p:nvPr/>
        </p:nvSpPr>
        <p:spPr>
          <a:xfrm>
            <a:off x="1234440" y="4617720"/>
            <a:ext cx="5120640" cy="274320"/>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Channel Performance &amp; Timing</a:t>
            </a:r>
            <a:endParaRPr lang="en-US" sz="1500" dirty="0"/>
          </a:p>
        </p:txBody>
      </p:sp>
      <p:sp>
        <p:nvSpPr>
          <p:cNvPr id="23" name="Text 21"/>
          <p:cNvSpPr/>
          <p:nvPr/>
        </p:nvSpPr>
        <p:spPr>
          <a:xfrm>
            <a:off x="1234440" y="4882896"/>
            <a:ext cx="7772400" cy="274320"/>
          </a:xfrm>
          <a:prstGeom prst="rect">
            <a:avLst/>
          </a:prstGeom>
          <a:noFill/>
          <a:ln/>
        </p:spPr>
        <p:txBody>
          <a:bodyPr wrap="square" rtlCol="0" anchor="ctr"/>
          <a:lstStyle/>
          <a:p>
            <a:pPr indent="0" marL="0">
              <a:buNone/>
            </a:pPr>
            <a:r>
              <a:rPr lang="en-US" sz="1150" dirty="0">
                <a:solidFill>
                  <a:srgbClr val="8A97A0"/>
                </a:solidFill>
                <a:latin typeface="Arial" pitchFamily="34" charset="0"/>
                <a:ea typeface="Arial" pitchFamily="34" charset="-122"/>
                <a:cs typeface="Arial" pitchFamily="34" charset="-120"/>
              </a:rPr>
              <a:t>What's watched, and when</a:t>
            </a:r>
            <a:endParaRPr lang="en-US" sz="1150" dirty="0"/>
          </a:p>
        </p:txBody>
      </p:sp>
      <p:sp>
        <p:nvSpPr>
          <p:cNvPr id="24" name="Shape 22"/>
          <p:cNvSpPr/>
          <p:nvPr/>
        </p:nvSpPr>
        <p:spPr>
          <a:xfrm>
            <a:off x="548640" y="5349240"/>
            <a:ext cx="457200" cy="457200"/>
          </a:xfrm>
          <a:prstGeom prst="ellipse">
            <a:avLst/>
          </a:prstGeom>
          <a:solidFill>
            <a:srgbClr val="161E24"/>
          </a:solidFill>
          <a:ln w="19050">
            <a:solidFill>
              <a:srgbClr val="47C9C2"/>
            </a:solidFill>
            <a:prstDash val="solid"/>
          </a:ln>
        </p:spPr>
      </p:sp>
      <p:sp>
        <p:nvSpPr>
          <p:cNvPr id="25" name="Text 23"/>
          <p:cNvSpPr/>
          <p:nvPr/>
        </p:nvSpPr>
        <p:spPr>
          <a:xfrm>
            <a:off x="548640" y="5349240"/>
            <a:ext cx="457200" cy="457200"/>
          </a:xfrm>
          <a:prstGeom prst="rect">
            <a:avLst/>
          </a:prstGeom>
          <a:noFill/>
          <a:ln/>
        </p:spPr>
        <p:txBody>
          <a:bodyPr wrap="square" rtlCol="0" anchor="ctr"/>
          <a:lstStyle/>
          <a:p>
            <a:pPr algn="ctr" indent="0" marL="0">
              <a:buNone/>
            </a:pPr>
            <a:r>
              <a:rPr lang="en-US" sz="1400" b="1" dirty="0">
                <a:solidFill>
                  <a:srgbClr val="47C9C2"/>
                </a:solidFill>
                <a:latin typeface="Courier New" pitchFamily="34" charset="0"/>
                <a:ea typeface="Courier New" pitchFamily="34" charset="-122"/>
                <a:cs typeface="Courier New" pitchFamily="34" charset="-120"/>
              </a:rPr>
              <a:t>06</a:t>
            </a:r>
            <a:endParaRPr lang="en-US" sz="1400" dirty="0"/>
          </a:p>
        </p:txBody>
      </p:sp>
      <p:sp>
        <p:nvSpPr>
          <p:cNvPr id="26" name="Text 24"/>
          <p:cNvSpPr/>
          <p:nvPr/>
        </p:nvSpPr>
        <p:spPr>
          <a:xfrm>
            <a:off x="1234440" y="5330952"/>
            <a:ext cx="5120640" cy="274320"/>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Recommendations &amp; Closing</a:t>
            </a:r>
            <a:endParaRPr lang="en-US" sz="1500" dirty="0"/>
          </a:p>
        </p:txBody>
      </p:sp>
      <p:sp>
        <p:nvSpPr>
          <p:cNvPr id="27" name="Text 25"/>
          <p:cNvSpPr/>
          <p:nvPr/>
        </p:nvSpPr>
        <p:spPr>
          <a:xfrm>
            <a:off x="1234440" y="5596128"/>
            <a:ext cx="7772400" cy="274320"/>
          </a:xfrm>
          <a:prstGeom prst="rect">
            <a:avLst/>
          </a:prstGeom>
          <a:noFill/>
          <a:ln/>
        </p:spPr>
        <p:txBody>
          <a:bodyPr wrap="square" rtlCol="0" anchor="ctr"/>
          <a:lstStyle/>
          <a:p>
            <a:pPr indent="0" marL="0">
              <a:buNone/>
            </a:pPr>
            <a:r>
              <a:rPr lang="en-US" sz="1150" dirty="0">
                <a:solidFill>
                  <a:srgbClr val="8A97A0"/>
                </a:solidFill>
                <a:latin typeface="Arial" pitchFamily="34" charset="0"/>
                <a:ea typeface="Arial" pitchFamily="34" charset="-122"/>
                <a:cs typeface="Arial" pitchFamily="34" charset="-120"/>
              </a:rPr>
              <a:t>Where to focus next</a:t>
            </a:r>
            <a:endParaRPr lang="en-US" sz="1150" dirty="0"/>
          </a:p>
        </p:txBody>
      </p:sp>
      <p:sp>
        <p:nvSpPr>
          <p:cNvPr id="28" name="Text 26"/>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29" name="Text 27"/>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01</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Project Context</a:t>
            </a:r>
            <a:endParaRPr lang="en-US" sz="3000" dirty="0"/>
          </a:p>
        </p:txBody>
      </p:sp>
      <p:sp>
        <p:nvSpPr>
          <p:cNvPr id="4" name="Text 2"/>
          <p:cNvSpPr/>
          <p:nvPr/>
        </p:nvSpPr>
        <p:spPr>
          <a:xfrm>
            <a:off x="457200" y="1783080"/>
            <a:ext cx="6126480" cy="4206240"/>
          </a:xfrm>
          <a:prstGeom prst="rect">
            <a:avLst/>
          </a:prstGeom>
          <a:noFill/>
          <a:ln/>
        </p:spPr>
        <p:txBody>
          <a:bodyPr wrap="square" rtlCol="0" anchor="t"/>
          <a:lstStyle/>
          <a:p>
            <a:pPr indent="0" marL="0">
              <a:lnSpc>
                <a:spcPct val="125000"/>
              </a:lnSpc>
              <a:buNone/>
            </a:pPr>
            <a:r>
              <a:rPr lang="en-US" sz="1350" dirty="0">
                <a:solidFill>
                  <a:srgbClr val="EAE7DD"/>
                </a:solidFill>
                <a:latin typeface="Arial" pitchFamily="34" charset="0"/>
                <a:ea typeface="Arial" pitchFamily="34" charset="-122"/>
                <a:cs typeface="Arial" pitchFamily="34" charset="-120"/>
              </a:rPr>
              <a:t>Analysis of 10,000 BrightTV viewing records reveals important trends in customer behaviour, content preference, and platform usage. Consumption is driven primarily by sport, music and entertainment content, skews toward younger audiences, and is concentrated in urban regions.</a:t>
            </a:r>
            <a:endParaRPr lang="en-US" sz="1350" dirty="0"/>
          </a:p>
          <a:p>
            <a:pPr indent="0" marL="0">
              <a:lnSpc>
                <a:spcPct val="125000"/>
              </a:lnSpc>
              <a:buNone/>
            </a:pPr>
            <a:endParaRPr lang="en-US" sz="1350" dirty="0"/>
          </a:p>
          <a:p>
            <a:pPr indent="0" marL="0">
              <a:lnSpc>
                <a:spcPct val="125000"/>
              </a:lnSpc>
              <a:buNone/>
            </a:pPr>
            <a:r>
              <a:rPr lang="en-US" sz="1350" dirty="0">
                <a:solidFill>
                  <a:srgbClr val="EAE7DD"/>
                </a:solidFill>
                <a:latin typeface="Arial" pitchFamily="34" charset="0"/>
                <a:ea typeface="Arial" pitchFamily="34" charset="-122"/>
                <a:cs typeface="Arial" pitchFamily="34" charset="-120"/>
              </a:rPr>
              <a:t>Engagement is highest during weekdays, particularly toward the end of the week, while Monday records the lowest consumption — the largest single opportunity for growth. The audience is concentrated among Young Adults, with Gauteng contributing over a third of all viewing activity.</a:t>
            </a:r>
            <a:endParaRPr lang="en-US" sz="1350" dirty="0"/>
          </a:p>
        </p:txBody>
      </p:sp>
      <p:sp>
        <p:nvSpPr>
          <p:cNvPr id="5" name="Shape 3"/>
          <p:cNvSpPr/>
          <p:nvPr/>
        </p:nvSpPr>
        <p:spPr>
          <a:xfrm>
            <a:off x="6903720" y="1783080"/>
            <a:ext cx="2240280" cy="1874520"/>
          </a:xfrm>
          <a:prstGeom prst="roundRect">
            <a:avLst>
              <a:gd name="adj" fmla="val 3902"/>
            </a:avLst>
          </a:prstGeom>
          <a:solidFill>
            <a:srgbClr val="161E24"/>
          </a:solidFill>
          <a:ln w="12700">
            <a:solidFill>
              <a:srgbClr val="232E36"/>
            </a:solidFill>
            <a:prstDash val="solid"/>
          </a:ln>
        </p:spPr>
      </p:sp>
      <p:sp>
        <p:nvSpPr>
          <p:cNvPr id="6" name="Text 4"/>
          <p:cNvSpPr/>
          <p:nvPr/>
        </p:nvSpPr>
        <p:spPr>
          <a:xfrm>
            <a:off x="7040880" y="2011680"/>
            <a:ext cx="1965960" cy="685800"/>
          </a:xfrm>
          <a:prstGeom prst="rect">
            <a:avLst/>
          </a:prstGeom>
          <a:noFill/>
          <a:ln/>
        </p:spPr>
        <p:txBody>
          <a:bodyPr wrap="square" rtlCol="0" anchor="ctr"/>
          <a:lstStyle/>
          <a:p>
            <a:pPr indent="0" marL="0">
              <a:buNone/>
            </a:pPr>
            <a:r>
              <a:rPr lang="en-US" sz="3000" b="1" dirty="0">
                <a:solidFill>
                  <a:srgbClr val="F2A93B"/>
                </a:solidFill>
                <a:latin typeface="Century Schoolbook" pitchFamily="34" charset="0"/>
                <a:ea typeface="Century Schoolbook" pitchFamily="34" charset="-122"/>
                <a:cs typeface="Century Schoolbook" pitchFamily="34" charset="-120"/>
              </a:rPr>
              <a:t>69.5%</a:t>
            </a:r>
            <a:endParaRPr lang="en-US" sz="3000" dirty="0"/>
          </a:p>
        </p:txBody>
      </p:sp>
      <p:sp>
        <p:nvSpPr>
          <p:cNvPr id="7" name="Text 5"/>
          <p:cNvSpPr/>
          <p:nvPr/>
        </p:nvSpPr>
        <p:spPr>
          <a:xfrm>
            <a:off x="7040880" y="2743200"/>
            <a:ext cx="1965960" cy="822960"/>
          </a:xfrm>
          <a:prstGeom prst="rect">
            <a:avLst/>
          </a:prstGeom>
          <a:noFill/>
          <a:ln/>
        </p:spPr>
        <p:txBody>
          <a:bodyPr wrap="square" rtlCol="0" anchor="ctr"/>
          <a:lstStyle/>
          <a:p>
            <a:pPr indent="0" marL="0">
              <a:buNone/>
            </a:pPr>
            <a:r>
              <a:rPr lang="en-US" sz="1100" dirty="0">
                <a:solidFill>
                  <a:srgbClr val="8A97A0"/>
                </a:solidFill>
                <a:latin typeface="Arial" pitchFamily="34" charset="0"/>
                <a:ea typeface="Arial" pitchFamily="34" charset="-122"/>
                <a:cs typeface="Arial" pitchFamily="34" charset="-120"/>
              </a:rPr>
              <a:t>of viewing happens on weekdays</a:t>
            </a:r>
            <a:endParaRPr lang="en-US" sz="1100" dirty="0"/>
          </a:p>
        </p:txBody>
      </p:sp>
      <p:sp>
        <p:nvSpPr>
          <p:cNvPr id="8" name="Shape 6"/>
          <p:cNvSpPr/>
          <p:nvPr/>
        </p:nvSpPr>
        <p:spPr>
          <a:xfrm>
            <a:off x="9326880" y="1783080"/>
            <a:ext cx="2240280" cy="1874520"/>
          </a:xfrm>
          <a:prstGeom prst="roundRect">
            <a:avLst>
              <a:gd name="adj" fmla="val 3902"/>
            </a:avLst>
          </a:prstGeom>
          <a:solidFill>
            <a:srgbClr val="161E24"/>
          </a:solidFill>
          <a:ln w="12700">
            <a:solidFill>
              <a:srgbClr val="232E36"/>
            </a:solidFill>
            <a:prstDash val="solid"/>
          </a:ln>
        </p:spPr>
      </p:sp>
      <p:sp>
        <p:nvSpPr>
          <p:cNvPr id="9" name="Text 7"/>
          <p:cNvSpPr/>
          <p:nvPr/>
        </p:nvSpPr>
        <p:spPr>
          <a:xfrm>
            <a:off x="9464040" y="2011680"/>
            <a:ext cx="1965960" cy="685800"/>
          </a:xfrm>
          <a:prstGeom prst="rect">
            <a:avLst/>
          </a:prstGeom>
          <a:noFill/>
          <a:ln/>
        </p:spPr>
        <p:txBody>
          <a:bodyPr wrap="square" rtlCol="0" anchor="ctr"/>
          <a:lstStyle/>
          <a:p>
            <a:pPr indent="0" marL="0">
              <a:buNone/>
            </a:pPr>
            <a:r>
              <a:rPr lang="en-US" sz="3000" b="1" dirty="0">
                <a:solidFill>
                  <a:srgbClr val="E8664F"/>
                </a:solidFill>
                <a:latin typeface="Century Schoolbook" pitchFamily="34" charset="0"/>
                <a:ea typeface="Century Schoolbook" pitchFamily="34" charset="-122"/>
                <a:cs typeface="Century Schoolbook" pitchFamily="34" charset="-120"/>
              </a:rPr>
              <a:t>9.7%</a:t>
            </a:r>
            <a:endParaRPr lang="en-US" sz="3000" dirty="0"/>
          </a:p>
        </p:txBody>
      </p:sp>
      <p:sp>
        <p:nvSpPr>
          <p:cNvPr id="10" name="Text 8"/>
          <p:cNvSpPr/>
          <p:nvPr/>
        </p:nvSpPr>
        <p:spPr>
          <a:xfrm>
            <a:off x="9464040" y="2743200"/>
            <a:ext cx="1965960" cy="822960"/>
          </a:xfrm>
          <a:prstGeom prst="rect">
            <a:avLst/>
          </a:prstGeom>
          <a:noFill/>
          <a:ln/>
        </p:spPr>
        <p:txBody>
          <a:bodyPr wrap="square" rtlCol="0" anchor="ctr"/>
          <a:lstStyle/>
          <a:p>
            <a:pPr indent="0" marL="0">
              <a:buNone/>
            </a:pPr>
            <a:r>
              <a:rPr lang="en-US" sz="1100" dirty="0">
                <a:solidFill>
                  <a:srgbClr val="8A97A0"/>
                </a:solidFill>
                <a:latin typeface="Arial" pitchFamily="34" charset="0"/>
                <a:ea typeface="Arial" pitchFamily="34" charset="-122"/>
                <a:cs typeface="Arial" pitchFamily="34" charset="-120"/>
              </a:rPr>
              <a:t>of views fall on Monday — lowest of the week</a:t>
            </a:r>
            <a:endParaRPr lang="en-US" sz="1100" dirty="0"/>
          </a:p>
        </p:txBody>
      </p:sp>
      <p:sp>
        <p:nvSpPr>
          <p:cNvPr id="11" name="Shape 9"/>
          <p:cNvSpPr/>
          <p:nvPr/>
        </p:nvSpPr>
        <p:spPr>
          <a:xfrm>
            <a:off x="6903720" y="3886200"/>
            <a:ext cx="2240280" cy="1874520"/>
          </a:xfrm>
          <a:prstGeom prst="roundRect">
            <a:avLst>
              <a:gd name="adj" fmla="val 3902"/>
            </a:avLst>
          </a:prstGeom>
          <a:solidFill>
            <a:srgbClr val="161E24"/>
          </a:solidFill>
          <a:ln w="12700">
            <a:solidFill>
              <a:srgbClr val="232E36"/>
            </a:solidFill>
            <a:prstDash val="solid"/>
          </a:ln>
        </p:spPr>
      </p:sp>
      <p:sp>
        <p:nvSpPr>
          <p:cNvPr id="12" name="Text 10"/>
          <p:cNvSpPr/>
          <p:nvPr/>
        </p:nvSpPr>
        <p:spPr>
          <a:xfrm>
            <a:off x="7040880" y="4114800"/>
            <a:ext cx="1965960" cy="685800"/>
          </a:xfrm>
          <a:prstGeom prst="rect">
            <a:avLst/>
          </a:prstGeom>
          <a:noFill/>
          <a:ln/>
        </p:spPr>
        <p:txBody>
          <a:bodyPr wrap="square" rtlCol="0" anchor="ctr"/>
          <a:lstStyle/>
          <a:p>
            <a:pPr indent="0" marL="0">
              <a:buNone/>
            </a:pPr>
            <a:r>
              <a:rPr lang="en-US" sz="3000" b="1" dirty="0">
                <a:solidFill>
                  <a:srgbClr val="47C9C2"/>
                </a:solidFill>
                <a:latin typeface="Century Schoolbook" pitchFamily="34" charset="0"/>
                <a:ea typeface="Century Schoolbook" pitchFamily="34" charset="-122"/>
                <a:cs typeface="Century Schoolbook" pitchFamily="34" charset="-120"/>
              </a:rPr>
              <a:t>56.3%</a:t>
            </a:r>
            <a:endParaRPr lang="en-US" sz="3000" dirty="0"/>
          </a:p>
        </p:txBody>
      </p:sp>
      <p:sp>
        <p:nvSpPr>
          <p:cNvPr id="13" name="Text 11"/>
          <p:cNvSpPr/>
          <p:nvPr/>
        </p:nvSpPr>
        <p:spPr>
          <a:xfrm>
            <a:off x="7040880" y="4846320"/>
            <a:ext cx="1965960" cy="822960"/>
          </a:xfrm>
          <a:prstGeom prst="rect">
            <a:avLst/>
          </a:prstGeom>
          <a:noFill/>
          <a:ln/>
        </p:spPr>
        <p:txBody>
          <a:bodyPr wrap="square" rtlCol="0" anchor="ctr"/>
          <a:lstStyle/>
          <a:p>
            <a:pPr indent="0" marL="0">
              <a:buNone/>
            </a:pPr>
            <a:r>
              <a:rPr lang="en-US" sz="1100" dirty="0">
                <a:solidFill>
                  <a:srgbClr val="8A97A0"/>
                </a:solidFill>
                <a:latin typeface="Arial" pitchFamily="34" charset="0"/>
                <a:ea typeface="Arial" pitchFamily="34" charset="-122"/>
                <a:cs typeface="Arial" pitchFamily="34" charset="-120"/>
              </a:rPr>
              <a:t>of viewers are Young Adults</a:t>
            </a:r>
            <a:endParaRPr lang="en-US" sz="1100" dirty="0"/>
          </a:p>
        </p:txBody>
      </p:sp>
      <p:sp>
        <p:nvSpPr>
          <p:cNvPr id="14" name="Shape 12"/>
          <p:cNvSpPr/>
          <p:nvPr/>
        </p:nvSpPr>
        <p:spPr>
          <a:xfrm>
            <a:off x="9326880" y="3886200"/>
            <a:ext cx="2240280" cy="1874520"/>
          </a:xfrm>
          <a:prstGeom prst="roundRect">
            <a:avLst>
              <a:gd name="adj" fmla="val 3902"/>
            </a:avLst>
          </a:prstGeom>
          <a:solidFill>
            <a:srgbClr val="161E24"/>
          </a:solidFill>
          <a:ln w="12700">
            <a:solidFill>
              <a:srgbClr val="232E36"/>
            </a:solidFill>
            <a:prstDash val="solid"/>
          </a:ln>
        </p:spPr>
      </p:sp>
      <p:sp>
        <p:nvSpPr>
          <p:cNvPr id="15" name="Text 13"/>
          <p:cNvSpPr/>
          <p:nvPr/>
        </p:nvSpPr>
        <p:spPr>
          <a:xfrm>
            <a:off x="9464040" y="4114800"/>
            <a:ext cx="1965960" cy="685800"/>
          </a:xfrm>
          <a:prstGeom prst="rect">
            <a:avLst/>
          </a:prstGeom>
          <a:noFill/>
          <a:ln/>
        </p:spPr>
        <p:txBody>
          <a:bodyPr wrap="square" rtlCol="0" anchor="ctr"/>
          <a:lstStyle/>
          <a:p>
            <a:pPr indent="0" marL="0">
              <a:buNone/>
            </a:pPr>
            <a:r>
              <a:rPr lang="en-US" sz="3000" b="1" dirty="0">
                <a:solidFill>
                  <a:srgbClr val="8B7FD6"/>
                </a:solidFill>
                <a:latin typeface="Century Schoolbook" pitchFamily="34" charset="0"/>
                <a:ea typeface="Century Schoolbook" pitchFamily="34" charset="-122"/>
                <a:cs typeface="Century Schoolbook" pitchFamily="34" charset="-120"/>
              </a:rPr>
              <a:t>36.5%</a:t>
            </a:r>
            <a:endParaRPr lang="en-US" sz="3000" dirty="0"/>
          </a:p>
        </p:txBody>
      </p:sp>
      <p:sp>
        <p:nvSpPr>
          <p:cNvPr id="16" name="Text 14"/>
          <p:cNvSpPr/>
          <p:nvPr/>
        </p:nvSpPr>
        <p:spPr>
          <a:xfrm>
            <a:off x="9464040" y="4846320"/>
            <a:ext cx="1965960" cy="822960"/>
          </a:xfrm>
          <a:prstGeom prst="rect">
            <a:avLst/>
          </a:prstGeom>
          <a:noFill/>
          <a:ln/>
        </p:spPr>
        <p:txBody>
          <a:bodyPr wrap="square" rtlCol="0" anchor="ctr"/>
          <a:lstStyle/>
          <a:p>
            <a:pPr indent="0" marL="0">
              <a:buNone/>
            </a:pPr>
            <a:r>
              <a:rPr lang="en-US" sz="1100" dirty="0">
                <a:solidFill>
                  <a:srgbClr val="8A97A0"/>
                </a:solidFill>
                <a:latin typeface="Arial" pitchFamily="34" charset="0"/>
                <a:ea typeface="Arial" pitchFamily="34" charset="-122"/>
                <a:cs typeface="Arial" pitchFamily="34" charset="-120"/>
              </a:rPr>
              <a:t>of viewership comes from Gauteng</a:t>
            </a:r>
            <a:endParaRPr lang="en-US" sz="1100" dirty="0"/>
          </a:p>
        </p:txBody>
      </p:sp>
      <p:sp>
        <p:nvSpPr>
          <p:cNvPr id="17" name="Text 15"/>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18" name="Text 16"/>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02</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Dataset Overview</a:t>
            </a:r>
            <a:endParaRPr lang="en-US" sz="3000" dirty="0"/>
          </a:p>
        </p:txBody>
      </p:sp>
      <p:sp>
        <p:nvSpPr>
          <p:cNvPr id="4" name="Text 2"/>
          <p:cNvSpPr/>
          <p:nvPr/>
        </p:nvSpPr>
        <p:spPr>
          <a:xfrm>
            <a:off x="457200" y="1170432"/>
            <a:ext cx="10515600" cy="45720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The full scope of the BrightTV Q1 2016 subscriber dataset</a:t>
            </a:r>
            <a:endParaRPr lang="en-US" sz="1300" dirty="0"/>
          </a:p>
        </p:txBody>
      </p:sp>
      <p:sp>
        <p:nvSpPr>
          <p:cNvPr id="5" name="Shape 3"/>
          <p:cNvSpPr/>
          <p:nvPr/>
        </p:nvSpPr>
        <p:spPr>
          <a:xfrm>
            <a:off x="457200" y="1965960"/>
            <a:ext cx="3520440" cy="1783080"/>
          </a:xfrm>
          <a:prstGeom prst="roundRect">
            <a:avLst>
              <a:gd name="adj" fmla="val 4103"/>
            </a:avLst>
          </a:prstGeom>
          <a:solidFill>
            <a:srgbClr val="161E24"/>
          </a:solidFill>
          <a:ln w="12700">
            <a:solidFill>
              <a:srgbClr val="232E36"/>
            </a:solidFill>
            <a:prstDash val="solid"/>
          </a:ln>
        </p:spPr>
      </p:sp>
      <p:sp>
        <p:nvSpPr>
          <p:cNvPr id="6" name="Text 4"/>
          <p:cNvSpPr/>
          <p:nvPr/>
        </p:nvSpPr>
        <p:spPr>
          <a:xfrm>
            <a:off x="685800" y="2130552"/>
            <a:ext cx="3063240" cy="274320"/>
          </a:xfrm>
          <a:prstGeom prst="rect">
            <a:avLst/>
          </a:prstGeom>
          <a:noFill/>
          <a:ln/>
        </p:spPr>
        <p:txBody>
          <a:bodyPr wrap="square" rtlCol="0" anchor="ctr"/>
          <a:lstStyle/>
          <a:p>
            <a:pPr indent="0" marL="0">
              <a:buNone/>
            </a:pPr>
            <a:r>
              <a:rPr lang="en-US" sz="1050" spc="100" kern="0" dirty="0">
                <a:solidFill>
                  <a:srgbClr val="5B666D"/>
                </a:solidFill>
                <a:latin typeface="Arial" pitchFamily="34" charset="0"/>
                <a:ea typeface="Arial" pitchFamily="34" charset="-122"/>
                <a:cs typeface="Arial" pitchFamily="34" charset="-120"/>
              </a:rPr>
              <a:t>TOTAL SUBSCRIBERS</a:t>
            </a:r>
            <a:endParaRPr lang="en-US" sz="1050" dirty="0"/>
          </a:p>
        </p:txBody>
      </p:sp>
      <p:sp>
        <p:nvSpPr>
          <p:cNvPr id="7" name="Text 5"/>
          <p:cNvSpPr/>
          <p:nvPr/>
        </p:nvSpPr>
        <p:spPr>
          <a:xfrm>
            <a:off x="685800" y="2423160"/>
            <a:ext cx="3063240" cy="685800"/>
          </a:xfrm>
          <a:prstGeom prst="rect">
            <a:avLst/>
          </a:prstGeom>
          <a:noFill/>
          <a:ln/>
        </p:spPr>
        <p:txBody>
          <a:bodyPr wrap="square" rtlCol="0" anchor="ctr"/>
          <a:lstStyle/>
          <a:p>
            <a:pPr indent="0" marL="0">
              <a:buNone/>
            </a:pPr>
            <a:r>
              <a:rPr lang="en-US" sz="3400" b="1" dirty="0">
                <a:solidFill>
                  <a:srgbClr val="F2A93B"/>
                </a:solidFill>
                <a:latin typeface="Century Schoolbook" pitchFamily="34" charset="0"/>
                <a:ea typeface="Century Schoolbook" pitchFamily="34" charset="-122"/>
                <a:cs typeface="Century Schoolbook" pitchFamily="34" charset="-120"/>
              </a:rPr>
              <a:t>10.0K</a:t>
            </a:r>
            <a:endParaRPr lang="en-US" sz="3400" dirty="0"/>
          </a:p>
        </p:txBody>
      </p:sp>
      <p:sp>
        <p:nvSpPr>
          <p:cNvPr id="8" name="Text 6"/>
          <p:cNvSpPr/>
          <p:nvPr/>
        </p:nvSpPr>
        <p:spPr>
          <a:xfrm>
            <a:off x="685800" y="3200400"/>
            <a:ext cx="3063240" cy="365760"/>
          </a:xfrm>
          <a:prstGeom prst="rect">
            <a:avLst/>
          </a:prstGeom>
          <a:noFill/>
          <a:ln/>
        </p:spPr>
        <p:txBody>
          <a:bodyPr wrap="square" rtlCol="0" anchor="ctr"/>
          <a:lstStyle/>
          <a:p>
            <a:pPr indent="0" marL="0">
              <a:buNone/>
            </a:pPr>
            <a:r>
              <a:rPr lang="en-US" sz="1100" dirty="0">
                <a:solidFill>
                  <a:srgbClr val="8A97A0"/>
                </a:solidFill>
                <a:latin typeface="Courier New" pitchFamily="34" charset="0"/>
                <a:ea typeface="Courier New" pitchFamily="34" charset="-122"/>
                <a:cs typeface="Courier New" pitchFamily="34" charset="-120"/>
              </a:rPr>
              <a:t>registered profiles</a:t>
            </a:r>
            <a:endParaRPr lang="en-US" sz="1100" dirty="0"/>
          </a:p>
        </p:txBody>
      </p:sp>
      <p:sp>
        <p:nvSpPr>
          <p:cNvPr id="9" name="Shape 7"/>
          <p:cNvSpPr/>
          <p:nvPr/>
        </p:nvSpPr>
        <p:spPr>
          <a:xfrm>
            <a:off x="4114800" y="1965960"/>
            <a:ext cx="3520440" cy="1783080"/>
          </a:xfrm>
          <a:prstGeom prst="roundRect">
            <a:avLst>
              <a:gd name="adj" fmla="val 4103"/>
            </a:avLst>
          </a:prstGeom>
          <a:solidFill>
            <a:srgbClr val="161E24"/>
          </a:solidFill>
          <a:ln w="12700">
            <a:solidFill>
              <a:srgbClr val="232E36"/>
            </a:solidFill>
            <a:prstDash val="solid"/>
          </a:ln>
        </p:spPr>
      </p:sp>
      <p:sp>
        <p:nvSpPr>
          <p:cNvPr id="10" name="Text 8"/>
          <p:cNvSpPr/>
          <p:nvPr/>
        </p:nvSpPr>
        <p:spPr>
          <a:xfrm>
            <a:off x="4343400" y="2130552"/>
            <a:ext cx="3063240" cy="274320"/>
          </a:xfrm>
          <a:prstGeom prst="rect">
            <a:avLst/>
          </a:prstGeom>
          <a:noFill/>
          <a:ln/>
        </p:spPr>
        <p:txBody>
          <a:bodyPr wrap="square" rtlCol="0" anchor="ctr"/>
          <a:lstStyle/>
          <a:p>
            <a:pPr indent="0" marL="0">
              <a:buNone/>
            </a:pPr>
            <a:r>
              <a:rPr lang="en-US" sz="1050" spc="100" kern="0" dirty="0">
                <a:solidFill>
                  <a:srgbClr val="5B666D"/>
                </a:solidFill>
                <a:latin typeface="Arial" pitchFamily="34" charset="0"/>
                <a:ea typeface="Arial" pitchFamily="34" charset="-122"/>
                <a:cs typeface="Arial" pitchFamily="34" charset="-120"/>
              </a:rPr>
              <a:t>ACTIVE USERS</a:t>
            </a:r>
            <a:endParaRPr lang="en-US" sz="1050" dirty="0"/>
          </a:p>
        </p:txBody>
      </p:sp>
      <p:sp>
        <p:nvSpPr>
          <p:cNvPr id="11" name="Text 9"/>
          <p:cNvSpPr/>
          <p:nvPr/>
        </p:nvSpPr>
        <p:spPr>
          <a:xfrm>
            <a:off x="4343400" y="2423160"/>
            <a:ext cx="3063240" cy="685800"/>
          </a:xfrm>
          <a:prstGeom prst="rect">
            <a:avLst/>
          </a:prstGeom>
          <a:noFill/>
          <a:ln/>
        </p:spPr>
        <p:txBody>
          <a:bodyPr wrap="square" rtlCol="0" anchor="ctr"/>
          <a:lstStyle/>
          <a:p>
            <a:pPr indent="0" marL="0">
              <a:buNone/>
            </a:pPr>
            <a:r>
              <a:rPr lang="en-US" sz="3400" b="1" dirty="0">
                <a:solidFill>
                  <a:srgbClr val="47C9C2"/>
                </a:solidFill>
                <a:latin typeface="Century Schoolbook" pitchFamily="34" charset="0"/>
                <a:ea typeface="Century Schoolbook" pitchFamily="34" charset="-122"/>
                <a:cs typeface="Century Schoolbook" pitchFamily="34" charset="-120"/>
              </a:rPr>
              <a:t>4,386</a:t>
            </a:r>
            <a:endParaRPr lang="en-US" sz="3400" dirty="0"/>
          </a:p>
        </p:txBody>
      </p:sp>
      <p:sp>
        <p:nvSpPr>
          <p:cNvPr id="12" name="Text 10"/>
          <p:cNvSpPr/>
          <p:nvPr/>
        </p:nvSpPr>
        <p:spPr>
          <a:xfrm>
            <a:off x="4343400" y="3200400"/>
            <a:ext cx="3063240" cy="365760"/>
          </a:xfrm>
          <a:prstGeom prst="rect">
            <a:avLst/>
          </a:prstGeom>
          <a:noFill/>
          <a:ln/>
        </p:spPr>
        <p:txBody>
          <a:bodyPr wrap="square" rtlCol="0" anchor="ctr"/>
          <a:lstStyle/>
          <a:p>
            <a:pPr indent="0" marL="0">
              <a:buNone/>
            </a:pPr>
            <a:r>
              <a:rPr lang="en-US" sz="1100" dirty="0">
                <a:solidFill>
                  <a:srgbClr val="8A97A0"/>
                </a:solidFill>
                <a:latin typeface="Courier New" pitchFamily="34" charset="0"/>
                <a:ea typeface="Courier New" pitchFamily="34" charset="-122"/>
                <a:cs typeface="Courier New" pitchFamily="34" charset="-120"/>
              </a:rPr>
              <a:t>watched ≥1 session</a:t>
            </a:r>
            <a:endParaRPr lang="en-US" sz="1100" dirty="0"/>
          </a:p>
        </p:txBody>
      </p:sp>
      <p:sp>
        <p:nvSpPr>
          <p:cNvPr id="13" name="Shape 11"/>
          <p:cNvSpPr/>
          <p:nvPr/>
        </p:nvSpPr>
        <p:spPr>
          <a:xfrm>
            <a:off x="7772400" y="1965960"/>
            <a:ext cx="3520440" cy="1783080"/>
          </a:xfrm>
          <a:prstGeom prst="roundRect">
            <a:avLst>
              <a:gd name="adj" fmla="val 4103"/>
            </a:avLst>
          </a:prstGeom>
          <a:solidFill>
            <a:srgbClr val="161E24"/>
          </a:solidFill>
          <a:ln w="12700">
            <a:solidFill>
              <a:srgbClr val="232E36"/>
            </a:solidFill>
            <a:prstDash val="solid"/>
          </a:ln>
        </p:spPr>
      </p:sp>
      <p:sp>
        <p:nvSpPr>
          <p:cNvPr id="14" name="Text 12"/>
          <p:cNvSpPr/>
          <p:nvPr/>
        </p:nvSpPr>
        <p:spPr>
          <a:xfrm>
            <a:off x="8001000" y="2130552"/>
            <a:ext cx="3063240" cy="274320"/>
          </a:xfrm>
          <a:prstGeom prst="rect">
            <a:avLst/>
          </a:prstGeom>
          <a:noFill/>
          <a:ln/>
        </p:spPr>
        <p:txBody>
          <a:bodyPr wrap="square" rtlCol="0" anchor="ctr"/>
          <a:lstStyle/>
          <a:p>
            <a:pPr indent="0" marL="0">
              <a:buNone/>
            </a:pPr>
            <a:r>
              <a:rPr lang="en-US" sz="1050" spc="100" kern="0" dirty="0">
                <a:solidFill>
                  <a:srgbClr val="5B666D"/>
                </a:solidFill>
                <a:latin typeface="Arial" pitchFamily="34" charset="0"/>
                <a:ea typeface="Arial" pitchFamily="34" charset="-122"/>
                <a:cs typeface="Arial" pitchFamily="34" charset="-120"/>
              </a:rPr>
              <a:t>ACTIVATION RATE</a:t>
            </a:r>
            <a:endParaRPr lang="en-US" sz="1050" dirty="0"/>
          </a:p>
        </p:txBody>
      </p:sp>
      <p:sp>
        <p:nvSpPr>
          <p:cNvPr id="15" name="Text 13"/>
          <p:cNvSpPr/>
          <p:nvPr/>
        </p:nvSpPr>
        <p:spPr>
          <a:xfrm>
            <a:off x="8001000" y="2423160"/>
            <a:ext cx="3063240" cy="685800"/>
          </a:xfrm>
          <a:prstGeom prst="rect">
            <a:avLst/>
          </a:prstGeom>
          <a:noFill/>
          <a:ln/>
        </p:spPr>
        <p:txBody>
          <a:bodyPr wrap="square" rtlCol="0" anchor="ctr"/>
          <a:lstStyle/>
          <a:p>
            <a:pPr indent="0" marL="0">
              <a:buNone/>
            </a:pPr>
            <a:r>
              <a:rPr lang="en-US" sz="3400" b="1" dirty="0">
                <a:solidFill>
                  <a:srgbClr val="E8664F"/>
                </a:solidFill>
                <a:latin typeface="Century Schoolbook" pitchFamily="34" charset="0"/>
                <a:ea typeface="Century Schoolbook" pitchFamily="34" charset="-122"/>
                <a:cs typeface="Century Schoolbook" pitchFamily="34" charset="-120"/>
              </a:rPr>
              <a:t>43.9%</a:t>
            </a:r>
            <a:endParaRPr lang="en-US" sz="3400" dirty="0"/>
          </a:p>
        </p:txBody>
      </p:sp>
      <p:sp>
        <p:nvSpPr>
          <p:cNvPr id="16" name="Text 14"/>
          <p:cNvSpPr/>
          <p:nvPr/>
        </p:nvSpPr>
        <p:spPr>
          <a:xfrm>
            <a:off x="8001000" y="3200400"/>
            <a:ext cx="3063240" cy="365760"/>
          </a:xfrm>
          <a:prstGeom prst="rect">
            <a:avLst/>
          </a:prstGeom>
          <a:noFill/>
          <a:ln/>
        </p:spPr>
        <p:txBody>
          <a:bodyPr wrap="square" rtlCol="0" anchor="ctr"/>
          <a:lstStyle/>
          <a:p>
            <a:pPr indent="0" marL="0">
              <a:buNone/>
            </a:pPr>
            <a:r>
              <a:rPr lang="en-US" sz="1100" dirty="0">
                <a:solidFill>
                  <a:srgbClr val="8A97A0"/>
                </a:solidFill>
                <a:latin typeface="Courier New" pitchFamily="34" charset="0"/>
                <a:ea typeface="Courier New" pitchFamily="34" charset="-122"/>
                <a:cs typeface="Courier New" pitchFamily="34" charset="-120"/>
              </a:rPr>
              <a:t>active ÷ registered</a:t>
            </a:r>
            <a:endParaRPr lang="en-US" sz="1100" dirty="0"/>
          </a:p>
        </p:txBody>
      </p:sp>
      <p:sp>
        <p:nvSpPr>
          <p:cNvPr id="17" name="Shape 15"/>
          <p:cNvSpPr/>
          <p:nvPr/>
        </p:nvSpPr>
        <p:spPr>
          <a:xfrm>
            <a:off x="457200" y="3886200"/>
            <a:ext cx="3520440" cy="1783080"/>
          </a:xfrm>
          <a:prstGeom prst="roundRect">
            <a:avLst>
              <a:gd name="adj" fmla="val 4103"/>
            </a:avLst>
          </a:prstGeom>
          <a:solidFill>
            <a:srgbClr val="161E24"/>
          </a:solidFill>
          <a:ln w="12700">
            <a:solidFill>
              <a:srgbClr val="232E36"/>
            </a:solidFill>
            <a:prstDash val="solid"/>
          </a:ln>
        </p:spPr>
      </p:sp>
      <p:sp>
        <p:nvSpPr>
          <p:cNvPr id="18" name="Text 16"/>
          <p:cNvSpPr/>
          <p:nvPr/>
        </p:nvSpPr>
        <p:spPr>
          <a:xfrm>
            <a:off x="685800" y="4050792"/>
            <a:ext cx="3063240" cy="274320"/>
          </a:xfrm>
          <a:prstGeom prst="rect">
            <a:avLst/>
          </a:prstGeom>
          <a:noFill/>
          <a:ln/>
        </p:spPr>
        <p:txBody>
          <a:bodyPr wrap="square" rtlCol="0" anchor="ctr"/>
          <a:lstStyle/>
          <a:p>
            <a:pPr indent="0" marL="0">
              <a:buNone/>
            </a:pPr>
            <a:r>
              <a:rPr lang="en-US" sz="1050" spc="100" kern="0" dirty="0">
                <a:solidFill>
                  <a:srgbClr val="5B666D"/>
                </a:solidFill>
                <a:latin typeface="Arial" pitchFamily="34" charset="0"/>
                <a:ea typeface="Arial" pitchFamily="34" charset="-122"/>
                <a:cs typeface="Arial" pitchFamily="34" charset="-120"/>
              </a:rPr>
              <a:t>AVG. SESSION (MIN)</a:t>
            </a:r>
            <a:endParaRPr lang="en-US" sz="1050" dirty="0"/>
          </a:p>
        </p:txBody>
      </p:sp>
      <p:sp>
        <p:nvSpPr>
          <p:cNvPr id="19" name="Text 17"/>
          <p:cNvSpPr/>
          <p:nvPr/>
        </p:nvSpPr>
        <p:spPr>
          <a:xfrm>
            <a:off x="685800" y="4343400"/>
            <a:ext cx="3063240" cy="685800"/>
          </a:xfrm>
          <a:prstGeom prst="rect">
            <a:avLst/>
          </a:prstGeom>
          <a:noFill/>
          <a:ln/>
        </p:spPr>
        <p:txBody>
          <a:bodyPr wrap="square" rtlCol="0" anchor="ctr"/>
          <a:lstStyle/>
          <a:p>
            <a:pPr indent="0" marL="0">
              <a:buNone/>
            </a:pPr>
            <a:r>
              <a:rPr lang="en-US" sz="3400" b="1" dirty="0">
                <a:solidFill>
                  <a:srgbClr val="8B7FD6"/>
                </a:solidFill>
                <a:latin typeface="Century Schoolbook" pitchFamily="34" charset="0"/>
                <a:ea typeface="Century Schoolbook" pitchFamily="34" charset="-122"/>
                <a:cs typeface="Century Schoolbook" pitchFamily="34" charset="-120"/>
              </a:rPr>
              <a:t>9.14</a:t>
            </a:r>
            <a:endParaRPr lang="en-US" sz="3400" dirty="0"/>
          </a:p>
        </p:txBody>
      </p:sp>
      <p:sp>
        <p:nvSpPr>
          <p:cNvPr id="20" name="Text 18"/>
          <p:cNvSpPr/>
          <p:nvPr/>
        </p:nvSpPr>
        <p:spPr>
          <a:xfrm>
            <a:off x="685800" y="5120640"/>
            <a:ext cx="3063240" cy="365760"/>
          </a:xfrm>
          <a:prstGeom prst="rect">
            <a:avLst/>
          </a:prstGeom>
          <a:noFill/>
          <a:ln/>
        </p:spPr>
        <p:txBody>
          <a:bodyPr wrap="square" rtlCol="0" anchor="ctr"/>
          <a:lstStyle/>
          <a:p>
            <a:pPr indent="0" marL="0">
              <a:buNone/>
            </a:pPr>
            <a:r>
              <a:rPr lang="en-US" sz="1100" dirty="0">
                <a:solidFill>
                  <a:srgbClr val="8A97A0"/>
                </a:solidFill>
                <a:latin typeface="Courier New" pitchFamily="34" charset="0"/>
                <a:ea typeface="Courier New" pitchFamily="34" charset="-122"/>
                <a:cs typeface="Courier New" pitchFamily="34" charset="-120"/>
              </a:rPr>
              <a:t>minutes / view</a:t>
            </a:r>
            <a:endParaRPr lang="en-US" sz="1100" dirty="0"/>
          </a:p>
        </p:txBody>
      </p:sp>
      <p:sp>
        <p:nvSpPr>
          <p:cNvPr id="21" name="Shape 19"/>
          <p:cNvSpPr/>
          <p:nvPr/>
        </p:nvSpPr>
        <p:spPr>
          <a:xfrm>
            <a:off x="4114800" y="3886200"/>
            <a:ext cx="3520440" cy="1783080"/>
          </a:xfrm>
          <a:prstGeom prst="roundRect">
            <a:avLst>
              <a:gd name="adj" fmla="val 4103"/>
            </a:avLst>
          </a:prstGeom>
          <a:solidFill>
            <a:srgbClr val="161E24"/>
          </a:solidFill>
          <a:ln w="12700">
            <a:solidFill>
              <a:srgbClr val="232E36"/>
            </a:solidFill>
            <a:prstDash val="solid"/>
          </a:ln>
        </p:spPr>
      </p:sp>
      <p:sp>
        <p:nvSpPr>
          <p:cNvPr id="22" name="Text 20"/>
          <p:cNvSpPr/>
          <p:nvPr/>
        </p:nvSpPr>
        <p:spPr>
          <a:xfrm>
            <a:off x="4343400" y="4050792"/>
            <a:ext cx="3063240" cy="274320"/>
          </a:xfrm>
          <a:prstGeom prst="rect">
            <a:avLst/>
          </a:prstGeom>
          <a:noFill/>
          <a:ln/>
        </p:spPr>
        <p:txBody>
          <a:bodyPr wrap="square" rtlCol="0" anchor="ctr"/>
          <a:lstStyle/>
          <a:p>
            <a:pPr indent="0" marL="0">
              <a:buNone/>
            </a:pPr>
            <a:r>
              <a:rPr lang="en-US" sz="1050" spc="100" kern="0" dirty="0">
                <a:solidFill>
                  <a:srgbClr val="5B666D"/>
                </a:solidFill>
                <a:latin typeface="Arial" pitchFamily="34" charset="0"/>
                <a:ea typeface="Arial" pitchFamily="34" charset="-122"/>
                <a:cs typeface="Arial" pitchFamily="34" charset="-120"/>
              </a:rPr>
              <a:t>CHANNELS TRACKED</a:t>
            </a:r>
            <a:endParaRPr lang="en-US" sz="1050" dirty="0"/>
          </a:p>
        </p:txBody>
      </p:sp>
      <p:sp>
        <p:nvSpPr>
          <p:cNvPr id="23" name="Text 21"/>
          <p:cNvSpPr/>
          <p:nvPr/>
        </p:nvSpPr>
        <p:spPr>
          <a:xfrm>
            <a:off x="4343400" y="4343400"/>
            <a:ext cx="3063240" cy="685800"/>
          </a:xfrm>
          <a:prstGeom prst="rect">
            <a:avLst/>
          </a:prstGeom>
          <a:noFill/>
          <a:ln/>
        </p:spPr>
        <p:txBody>
          <a:bodyPr wrap="square" rtlCol="0" anchor="ctr"/>
          <a:lstStyle/>
          <a:p>
            <a:pPr indent="0" marL="0">
              <a:buNone/>
            </a:pPr>
            <a:r>
              <a:rPr lang="en-US" sz="3400" b="1" dirty="0">
                <a:solidFill>
                  <a:srgbClr val="F2A93B"/>
                </a:solidFill>
                <a:latin typeface="Century Schoolbook" pitchFamily="34" charset="0"/>
                <a:ea typeface="Century Schoolbook" pitchFamily="34" charset="-122"/>
                <a:cs typeface="Century Schoolbook" pitchFamily="34" charset="-120"/>
              </a:rPr>
              <a:t>19</a:t>
            </a:r>
            <a:endParaRPr lang="en-US" sz="3400" dirty="0"/>
          </a:p>
        </p:txBody>
      </p:sp>
      <p:sp>
        <p:nvSpPr>
          <p:cNvPr id="24" name="Text 22"/>
          <p:cNvSpPr/>
          <p:nvPr/>
        </p:nvSpPr>
        <p:spPr>
          <a:xfrm>
            <a:off x="4343400" y="5120640"/>
            <a:ext cx="3063240" cy="365760"/>
          </a:xfrm>
          <a:prstGeom prst="rect">
            <a:avLst/>
          </a:prstGeom>
          <a:noFill/>
          <a:ln/>
        </p:spPr>
        <p:txBody>
          <a:bodyPr wrap="square" rtlCol="0" anchor="ctr"/>
          <a:lstStyle/>
          <a:p>
            <a:pPr indent="0" marL="0">
              <a:buNone/>
            </a:pPr>
            <a:r>
              <a:rPr lang="en-US" sz="1100" dirty="0">
                <a:solidFill>
                  <a:srgbClr val="8A97A0"/>
                </a:solidFill>
                <a:latin typeface="Courier New" pitchFamily="34" charset="0"/>
                <a:ea typeface="Courier New" pitchFamily="34" charset="-122"/>
                <a:cs typeface="Courier New" pitchFamily="34" charset="-120"/>
              </a:rPr>
              <a:t>live &amp; linear</a:t>
            </a:r>
            <a:endParaRPr lang="en-US" sz="1100" dirty="0"/>
          </a:p>
        </p:txBody>
      </p:sp>
      <p:sp>
        <p:nvSpPr>
          <p:cNvPr id="25" name="Shape 23"/>
          <p:cNvSpPr/>
          <p:nvPr/>
        </p:nvSpPr>
        <p:spPr>
          <a:xfrm>
            <a:off x="7772400" y="3886200"/>
            <a:ext cx="3520440" cy="1783080"/>
          </a:xfrm>
          <a:prstGeom prst="roundRect">
            <a:avLst>
              <a:gd name="adj" fmla="val 4103"/>
            </a:avLst>
          </a:prstGeom>
          <a:solidFill>
            <a:srgbClr val="161E24"/>
          </a:solidFill>
          <a:ln w="12700">
            <a:solidFill>
              <a:srgbClr val="232E36"/>
            </a:solidFill>
            <a:prstDash val="solid"/>
          </a:ln>
        </p:spPr>
      </p:sp>
      <p:sp>
        <p:nvSpPr>
          <p:cNvPr id="26" name="Text 24"/>
          <p:cNvSpPr/>
          <p:nvPr/>
        </p:nvSpPr>
        <p:spPr>
          <a:xfrm>
            <a:off x="8001000" y="4050792"/>
            <a:ext cx="3063240" cy="274320"/>
          </a:xfrm>
          <a:prstGeom prst="rect">
            <a:avLst/>
          </a:prstGeom>
          <a:noFill/>
          <a:ln/>
        </p:spPr>
        <p:txBody>
          <a:bodyPr wrap="square" rtlCol="0" anchor="ctr"/>
          <a:lstStyle/>
          <a:p>
            <a:pPr indent="0" marL="0">
              <a:buNone/>
            </a:pPr>
            <a:r>
              <a:rPr lang="en-US" sz="1050" spc="100" kern="0" dirty="0">
                <a:solidFill>
                  <a:srgbClr val="5B666D"/>
                </a:solidFill>
                <a:latin typeface="Arial" pitchFamily="34" charset="0"/>
                <a:ea typeface="Arial" pitchFamily="34" charset="-122"/>
                <a:cs typeface="Arial" pitchFamily="34" charset="-120"/>
              </a:rPr>
              <a:t>LOGGED VIEWS</a:t>
            </a:r>
            <a:endParaRPr lang="en-US" sz="1050" dirty="0"/>
          </a:p>
        </p:txBody>
      </p:sp>
      <p:sp>
        <p:nvSpPr>
          <p:cNvPr id="27" name="Text 25"/>
          <p:cNvSpPr/>
          <p:nvPr/>
        </p:nvSpPr>
        <p:spPr>
          <a:xfrm>
            <a:off x="8001000" y="4343400"/>
            <a:ext cx="3063240" cy="685800"/>
          </a:xfrm>
          <a:prstGeom prst="rect">
            <a:avLst/>
          </a:prstGeom>
          <a:noFill/>
          <a:ln/>
        </p:spPr>
        <p:txBody>
          <a:bodyPr wrap="square" rtlCol="0" anchor="ctr"/>
          <a:lstStyle/>
          <a:p>
            <a:pPr indent="0" marL="0">
              <a:buNone/>
            </a:pPr>
            <a:r>
              <a:rPr lang="en-US" sz="3400" b="1" dirty="0">
                <a:solidFill>
                  <a:srgbClr val="47C9C2"/>
                </a:solidFill>
                <a:latin typeface="Century Schoolbook" pitchFamily="34" charset="0"/>
                <a:ea typeface="Century Schoolbook" pitchFamily="34" charset="-122"/>
                <a:cs typeface="Century Schoolbook" pitchFamily="34" charset="-120"/>
              </a:rPr>
              <a:t>10.0K</a:t>
            </a:r>
            <a:endParaRPr lang="en-US" sz="3400" dirty="0"/>
          </a:p>
        </p:txBody>
      </p:sp>
      <p:sp>
        <p:nvSpPr>
          <p:cNvPr id="28" name="Text 26"/>
          <p:cNvSpPr/>
          <p:nvPr/>
        </p:nvSpPr>
        <p:spPr>
          <a:xfrm>
            <a:off x="8001000" y="5120640"/>
            <a:ext cx="3063240" cy="365760"/>
          </a:xfrm>
          <a:prstGeom prst="rect">
            <a:avLst/>
          </a:prstGeom>
          <a:noFill/>
          <a:ln/>
        </p:spPr>
        <p:txBody>
          <a:bodyPr wrap="square" rtlCol="0" anchor="ctr"/>
          <a:lstStyle/>
          <a:p>
            <a:pPr indent="0" marL="0">
              <a:buNone/>
            </a:pPr>
            <a:r>
              <a:rPr lang="en-US" sz="1100" dirty="0">
                <a:solidFill>
                  <a:srgbClr val="8A97A0"/>
                </a:solidFill>
                <a:latin typeface="Courier New" pitchFamily="34" charset="0"/>
                <a:ea typeface="Courier New" pitchFamily="34" charset="-122"/>
                <a:cs typeface="Courier New" pitchFamily="34" charset="-120"/>
              </a:rPr>
              <a:t>viewership events</a:t>
            </a:r>
            <a:endParaRPr lang="en-US" sz="1100" dirty="0"/>
          </a:p>
        </p:txBody>
      </p:sp>
      <p:sp>
        <p:nvSpPr>
          <p:cNvPr id="29" name="Text 27"/>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30" name="Text 28"/>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03</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Daily Viewership Trend</a:t>
            </a:r>
            <a:endParaRPr lang="en-US" sz="3000" dirty="0"/>
          </a:p>
        </p:txBody>
      </p:sp>
      <p:sp>
        <p:nvSpPr>
          <p:cNvPr id="4" name="Text 2"/>
          <p:cNvSpPr/>
          <p:nvPr/>
        </p:nvSpPr>
        <p:spPr>
          <a:xfrm>
            <a:off x="457200" y="1170432"/>
            <a:ext cx="10515600" cy="45720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Every logged view across the 90-day window, Jan – Mar 2016</a:t>
            </a:r>
            <a:endParaRPr lang="en-US" sz="1300" dirty="0"/>
          </a:p>
        </p:txBody>
      </p:sp>
      <p:graphicFrame>
        <p:nvGraphicFramePr>
          <p:cNvPr id="5" name="Chart 0" descr=""/>
          <p:cNvGraphicFramePr/>
          <p:nvPr/>
        </p:nvGraphicFramePr>
        <p:xfrm>
          <a:off x="457200" y="1965960"/>
          <a:ext cx="7680960" cy="40233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8366760" y="2057400"/>
            <a:ext cx="3337560" cy="3840480"/>
          </a:xfrm>
          <a:prstGeom prst="rect">
            <a:avLst/>
          </a:prstGeom>
          <a:noFill/>
          <a:ln/>
        </p:spPr>
        <p:txBody>
          <a:bodyPr wrap="square" rtlCol="0" anchor="t"/>
          <a:lstStyle/>
          <a:p>
            <a:pPr indent="0" marL="0">
              <a:lnSpc>
                <a:spcPct val="130000"/>
              </a:lnSpc>
              <a:buNone/>
            </a:pPr>
            <a:r>
              <a:rPr lang="en-US" sz="1250" dirty="0">
                <a:solidFill>
                  <a:srgbClr val="EAE7DD"/>
                </a:solidFill>
                <a:latin typeface="Arial" pitchFamily="34" charset="0"/>
                <a:ea typeface="Arial" pitchFamily="34" charset="-122"/>
                <a:cs typeface="Arial" pitchFamily="34" charset="-120"/>
              </a:rPr>
              <a:t>BrightTV's audience strengthened over the three-month period, with clear surges in late February and March that lifted the platform well above its January baseline.</a:t>
            </a:r>
            <a:endParaRPr lang="en-US" sz="1250" dirty="0"/>
          </a:p>
          <a:p>
            <a:pPr indent="0" marL="0">
              <a:lnSpc>
                <a:spcPct val="130000"/>
              </a:lnSpc>
              <a:buNone/>
            </a:pPr>
            <a:endParaRPr lang="en-US" sz="1250" dirty="0"/>
          </a:p>
          <a:p>
            <a:pPr indent="0" marL="0">
              <a:lnSpc>
                <a:spcPct val="130000"/>
              </a:lnSpc>
              <a:buNone/>
            </a:pPr>
            <a:r>
              <a:rPr lang="en-US" sz="1250" dirty="0">
                <a:solidFill>
                  <a:srgbClr val="EAE7DD"/>
                </a:solidFill>
                <a:latin typeface="Arial" pitchFamily="34" charset="0"/>
                <a:ea typeface="Arial" pitchFamily="34" charset="-122"/>
                <a:cs typeface="Arial" pitchFamily="34" charset="-120"/>
              </a:rPr>
              <a:t>Sustaining the type of programming behind those spikes — live sport and major events — is key to holding engagement at these higher levels going forward.</a:t>
            </a:r>
            <a:endParaRPr lang="en-US" sz="1250" dirty="0"/>
          </a:p>
        </p:txBody>
      </p:sp>
      <p:sp>
        <p:nvSpPr>
          <p:cNvPr id="7" name="Text 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8" name="Text 5"/>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04</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Viewership by Gender</a:t>
            </a:r>
            <a:endParaRPr lang="en-US" sz="3000" dirty="0"/>
          </a:p>
        </p:txBody>
      </p:sp>
      <p:sp>
        <p:nvSpPr>
          <p:cNvPr id="4" name="Text 2"/>
          <p:cNvSpPr/>
          <p:nvPr/>
        </p:nvSpPr>
        <p:spPr>
          <a:xfrm>
            <a:off x="457200" y="1170432"/>
            <a:ext cx="10515600" cy="45720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Who is watching BrightTV</a:t>
            </a:r>
            <a:endParaRPr lang="en-US" sz="1300" dirty="0"/>
          </a:p>
        </p:txBody>
      </p:sp>
      <p:graphicFrame>
        <p:nvGraphicFramePr>
          <p:cNvPr id="5" name="Chart 0" descr=""/>
          <p:cNvGraphicFramePr/>
          <p:nvPr/>
        </p:nvGraphicFramePr>
        <p:xfrm>
          <a:off x="548640" y="1828800"/>
          <a:ext cx="457200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0" y="1965960"/>
            <a:ext cx="6217920" cy="4023360"/>
          </a:xfrm>
          <a:prstGeom prst="rect">
            <a:avLst/>
          </a:prstGeom>
          <a:noFill/>
          <a:ln/>
        </p:spPr>
        <p:txBody>
          <a:bodyPr wrap="square" rtlCol="0" anchor="t"/>
          <a:lstStyle/>
          <a:p>
            <a:pPr indent="0" marL="0">
              <a:lnSpc>
                <a:spcPct val="130000"/>
              </a:lnSpc>
              <a:buNone/>
            </a:pPr>
            <a:r>
              <a:rPr lang="en-US" sz="1300" dirty="0">
                <a:solidFill>
                  <a:srgbClr val="EAE7DD"/>
                </a:solidFill>
                <a:latin typeface="Arial" pitchFamily="34" charset="0"/>
                <a:ea typeface="Arial" pitchFamily="34" charset="-122"/>
                <a:cs typeface="Arial" pitchFamily="34" charset="-120"/>
              </a:rPr>
              <a:t>87.6% of BrightTV viewers are male, indicating the platform's current content offering appeals more strongly to a male audience.</a:t>
            </a:r>
            <a:endParaRPr lang="en-US" sz="1300" dirty="0"/>
          </a:p>
          <a:p>
            <a:pPr indent="0" marL="0">
              <a:lnSpc>
                <a:spcPct val="130000"/>
              </a:lnSpc>
              <a:buNone/>
            </a:pPr>
            <a:endParaRPr lang="en-US" sz="1300" dirty="0"/>
          </a:p>
          <a:p>
            <a:pPr indent="0" marL="0">
              <a:lnSpc>
                <a:spcPct val="130000"/>
              </a:lnSpc>
              <a:buNone/>
            </a:pPr>
            <a:r>
              <a:rPr lang="en-US" sz="1300" dirty="0">
                <a:solidFill>
                  <a:srgbClr val="EAE7DD"/>
                </a:solidFill>
                <a:latin typeface="Arial" pitchFamily="34" charset="0"/>
                <a:ea typeface="Arial" pitchFamily="34" charset="-122"/>
                <a:cs typeface="Arial" pitchFamily="34" charset="-120"/>
              </a:rPr>
              <a:t>Female viewers make up just 9.8% of tagged views — an opportunity to attract more women through lifestyle, family and local programming.</a:t>
            </a:r>
            <a:endParaRPr lang="en-US" sz="1300" dirty="0"/>
          </a:p>
          <a:p>
            <a:pPr indent="0" marL="0">
              <a:lnSpc>
                <a:spcPct val="130000"/>
              </a:lnSpc>
              <a:buNone/>
            </a:pPr>
            <a:endParaRPr lang="en-US" sz="1300" dirty="0"/>
          </a:p>
          <a:p>
            <a:pPr indent="0" marL="0">
              <a:lnSpc>
                <a:spcPct val="130000"/>
              </a:lnSpc>
              <a:buNone/>
            </a:pPr>
            <a:r>
              <a:rPr lang="en-US" sz="1300" dirty="0">
                <a:solidFill>
                  <a:srgbClr val="EAE7DD"/>
                </a:solidFill>
                <a:latin typeface="Arial" pitchFamily="34" charset="0"/>
                <a:ea typeface="Arial" pitchFamily="34" charset="-122"/>
                <a:cs typeface="Arial" pitchFamily="34" charset="-120"/>
              </a:rPr>
              <a:t>Roughly 2.6% of users have no recorded gender, suggesting incomplete profile data that limits targeting precision.</a:t>
            </a:r>
            <a:endParaRPr lang="en-US" sz="1300" dirty="0"/>
          </a:p>
        </p:txBody>
      </p:sp>
      <p:sp>
        <p:nvSpPr>
          <p:cNvPr id="7" name="Text 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8" name="Text 5"/>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04</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Viewership by Age Group</a:t>
            </a:r>
            <a:endParaRPr lang="en-US" sz="3000" dirty="0"/>
          </a:p>
        </p:txBody>
      </p:sp>
      <p:sp>
        <p:nvSpPr>
          <p:cNvPr id="4" name="Text 2"/>
          <p:cNvSpPr/>
          <p:nvPr/>
        </p:nvSpPr>
        <p:spPr>
          <a:xfrm>
            <a:off x="457200" y="1170432"/>
            <a:ext cx="10515600" cy="45720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Life-stage breakdown of tagged views</a:t>
            </a:r>
            <a:endParaRPr lang="en-US" sz="1300" dirty="0"/>
          </a:p>
        </p:txBody>
      </p:sp>
      <p:graphicFrame>
        <p:nvGraphicFramePr>
          <p:cNvPr id="5" name="Chart 0" descr=""/>
          <p:cNvGraphicFramePr/>
          <p:nvPr/>
        </p:nvGraphicFramePr>
        <p:xfrm>
          <a:off x="457200" y="192024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635240" y="2057400"/>
            <a:ext cx="4069080" cy="3931920"/>
          </a:xfrm>
          <a:prstGeom prst="rect">
            <a:avLst/>
          </a:prstGeom>
          <a:noFill/>
          <a:ln/>
        </p:spPr>
        <p:txBody>
          <a:bodyPr wrap="square" rtlCol="0" anchor="t"/>
          <a:lstStyle/>
          <a:p>
            <a:pPr indent="0" marL="0">
              <a:lnSpc>
                <a:spcPct val="130000"/>
              </a:lnSpc>
              <a:buNone/>
            </a:pPr>
            <a:r>
              <a:rPr lang="en-US" sz="1250" dirty="0">
                <a:solidFill>
                  <a:srgbClr val="EAE7DD"/>
                </a:solidFill>
                <a:latin typeface="Arial" pitchFamily="34" charset="0"/>
                <a:ea typeface="Arial" pitchFamily="34" charset="-122"/>
                <a:cs typeface="Arial" pitchFamily="34" charset="-120"/>
              </a:rPr>
              <a:t>Young Adults are BrightTV's core audience — 56.3% of all viewership — followed by Adults at 37.7%. Together these two groups account for nearly 95% of activity, while Teenagers, Children, Pensioners and Infants make up a small remainder.</a:t>
            </a:r>
            <a:endParaRPr lang="en-US" sz="1250" dirty="0"/>
          </a:p>
          <a:p>
            <a:pPr indent="0" marL="0">
              <a:lnSpc>
                <a:spcPct val="130000"/>
              </a:lnSpc>
              <a:buNone/>
            </a:pPr>
            <a:endParaRPr lang="en-US" sz="1250" dirty="0"/>
          </a:p>
          <a:p>
            <a:pPr indent="0" marL="0">
              <a:lnSpc>
                <a:spcPct val="130000"/>
              </a:lnSpc>
              <a:buNone/>
            </a:pPr>
            <a:r>
              <a:rPr lang="en-US" sz="1250" dirty="0">
                <a:solidFill>
                  <a:srgbClr val="EAE7DD"/>
                </a:solidFill>
                <a:latin typeface="Arial" pitchFamily="34" charset="0"/>
                <a:ea typeface="Arial" pitchFamily="34" charset="-122"/>
                <a:cs typeface="Arial" pitchFamily="34" charset="-120"/>
              </a:rPr>
              <a:t>Content and marketing built around Young Adult tastes will reach the largest share of the existing base.</a:t>
            </a:r>
            <a:endParaRPr lang="en-US" sz="1250" dirty="0"/>
          </a:p>
        </p:txBody>
      </p:sp>
      <p:sp>
        <p:nvSpPr>
          <p:cNvPr id="7" name="Text 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8" name="Text 5"/>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04</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Viewership by Province</a:t>
            </a:r>
            <a:endParaRPr lang="en-US" sz="3000" dirty="0"/>
          </a:p>
        </p:txBody>
      </p:sp>
      <p:sp>
        <p:nvSpPr>
          <p:cNvPr id="4" name="Text 2"/>
          <p:cNvSpPr/>
          <p:nvPr/>
        </p:nvSpPr>
        <p:spPr>
          <a:xfrm>
            <a:off x="457200" y="1170432"/>
            <a:ext cx="10515600" cy="45720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Where BrightTV's audience is concentrated</a:t>
            </a:r>
            <a:endParaRPr lang="en-US" sz="1300" dirty="0"/>
          </a:p>
        </p:txBody>
      </p:sp>
      <p:graphicFrame>
        <p:nvGraphicFramePr>
          <p:cNvPr id="5" name="Chart 0" descr=""/>
          <p:cNvGraphicFramePr/>
          <p:nvPr/>
        </p:nvGraphicFramePr>
        <p:xfrm>
          <a:off x="457200" y="192024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635240" y="2057400"/>
            <a:ext cx="4069080" cy="3931920"/>
          </a:xfrm>
          <a:prstGeom prst="rect">
            <a:avLst/>
          </a:prstGeom>
          <a:noFill/>
          <a:ln/>
        </p:spPr>
        <p:txBody>
          <a:bodyPr wrap="square" rtlCol="0" anchor="t"/>
          <a:lstStyle/>
          <a:p>
            <a:pPr indent="0" marL="0">
              <a:lnSpc>
                <a:spcPct val="130000"/>
              </a:lnSpc>
              <a:buNone/>
            </a:pPr>
            <a:r>
              <a:rPr lang="en-US" sz="1250" dirty="0">
                <a:solidFill>
                  <a:srgbClr val="EAE7DD"/>
                </a:solidFill>
                <a:latin typeface="Arial" pitchFamily="34" charset="0"/>
                <a:ea typeface="Arial" pitchFamily="34" charset="-122"/>
                <a:cs typeface="Arial" pitchFamily="34" charset="-120"/>
              </a:rPr>
              <a:t>Gauteng alone accounts for 36.5% of total viewership — BrightTV's largest market — with the Western Cape a distant second at 18.4%. Together they represent nearly 55% of all views, concentrated in South Africa's major economic hubs.</a:t>
            </a:r>
            <a:endParaRPr lang="en-US" sz="1250" dirty="0"/>
          </a:p>
          <a:p>
            <a:pPr indent="0" marL="0">
              <a:lnSpc>
                <a:spcPct val="130000"/>
              </a:lnSpc>
              <a:buNone/>
            </a:pPr>
            <a:endParaRPr lang="en-US" sz="1250" dirty="0"/>
          </a:p>
          <a:p>
            <a:pPr indent="0" marL="0">
              <a:lnSpc>
                <a:spcPct val="130000"/>
              </a:lnSpc>
              <a:buNone/>
            </a:pPr>
            <a:r>
              <a:rPr lang="en-US" sz="1250" dirty="0">
                <a:solidFill>
                  <a:srgbClr val="EAE7DD"/>
                </a:solidFill>
                <a:latin typeface="Arial" pitchFamily="34" charset="0"/>
                <a:ea typeface="Arial" pitchFamily="34" charset="-122"/>
                <a:cs typeface="Arial" pitchFamily="34" charset="-120"/>
              </a:rPr>
              <a:t>KwaZulu-Natal and Mpumalanga show solid mid-tier potential, while Free State, North West and Northern Cape remain the smallest markets — and the clearest room to expand nationally.</a:t>
            </a:r>
            <a:endParaRPr lang="en-US" sz="1250" dirty="0"/>
          </a:p>
        </p:txBody>
      </p:sp>
      <p:sp>
        <p:nvSpPr>
          <p:cNvPr id="7" name="Text 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8" name="Text 5"/>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05</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Viewership by Channel</a:t>
            </a:r>
            <a:endParaRPr lang="en-US" sz="3000" dirty="0"/>
          </a:p>
        </p:txBody>
      </p:sp>
      <p:sp>
        <p:nvSpPr>
          <p:cNvPr id="4" name="Text 2"/>
          <p:cNvSpPr/>
          <p:nvPr/>
        </p:nvSpPr>
        <p:spPr>
          <a:xfrm>
            <a:off x="457200" y="1170432"/>
            <a:ext cx="10515600" cy="45720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Top 10 channels ranked by views</a:t>
            </a:r>
            <a:endParaRPr lang="en-US" sz="1300" dirty="0"/>
          </a:p>
        </p:txBody>
      </p:sp>
      <p:graphicFrame>
        <p:nvGraphicFramePr>
          <p:cNvPr id="5" name="Chart 0" descr=""/>
          <p:cNvGraphicFramePr/>
          <p:nvPr/>
        </p:nvGraphicFramePr>
        <p:xfrm>
          <a:off x="457200" y="1920240"/>
          <a:ext cx="6949440" cy="4114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635240" y="2057400"/>
            <a:ext cx="4069080" cy="3931920"/>
          </a:xfrm>
          <a:prstGeom prst="rect">
            <a:avLst/>
          </a:prstGeom>
          <a:noFill/>
          <a:ln/>
        </p:spPr>
        <p:txBody>
          <a:bodyPr wrap="square" rtlCol="0" anchor="t"/>
          <a:lstStyle/>
          <a:p>
            <a:pPr indent="0" marL="0">
              <a:lnSpc>
                <a:spcPct val="130000"/>
              </a:lnSpc>
              <a:buNone/>
            </a:pPr>
            <a:r>
              <a:rPr lang="en-US" sz="1250" dirty="0">
                <a:solidFill>
                  <a:srgbClr val="EAE7DD"/>
                </a:solidFill>
                <a:latin typeface="Arial" pitchFamily="34" charset="0"/>
                <a:ea typeface="Arial" pitchFamily="34" charset="-122"/>
                <a:cs typeface="Arial" pitchFamily="34" charset="-120"/>
              </a:rPr>
              <a:t>Supersport Live Events is the most-watched channel by a clear margin, confirming that live sport is the primary driver of engagement on BrightTV — the ICC Cricket World Cup 2011 and SuperSport Blitz reinforce the same pattern.</a:t>
            </a:r>
            <a:endParaRPr lang="en-US" sz="1250" dirty="0"/>
          </a:p>
          <a:p>
            <a:pPr indent="0" marL="0">
              <a:lnSpc>
                <a:spcPct val="130000"/>
              </a:lnSpc>
              <a:buNone/>
            </a:pPr>
            <a:endParaRPr lang="en-US" sz="1250" dirty="0"/>
          </a:p>
          <a:p>
            <a:pPr indent="0" marL="0">
              <a:lnSpc>
                <a:spcPct val="130000"/>
              </a:lnSpc>
              <a:buNone/>
            </a:pPr>
            <a:r>
              <a:rPr lang="en-US" sz="1250" dirty="0">
                <a:solidFill>
                  <a:srgbClr val="EAE7DD"/>
                </a:solidFill>
                <a:latin typeface="Arial" pitchFamily="34" charset="0"/>
                <a:ea typeface="Arial" pitchFamily="34" charset="-122"/>
                <a:cs typeface="Arial" pitchFamily="34" charset="-120"/>
              </a:rPr>
              <a:t>Demand drops off steadily after the top three; even the 10th-ranked channel still logs meaningful views, but growth here means diversifying beyond sport.</a:t>
            </a:r>
            <a:endParaRPr lang="en-US" sz="1250" dirty="0"/>
          </a:p>
        </p:txBody>
      </p:sp>
      <p:sp>
        <p:nvSpPr>
          <p:cNvPr id="7" name="Text 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8" name="Text 5"/>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04</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Viewership by Ethnic Group</a:t>
            </a:r>
            <a:endParaRPr lang="en-US" sz="3000" dirty="0"/>
          </a:p>
        </p:txBody>
      </p:sp>
      <p:sp>
        <p:nvSpPr>
          <p:cNvPr id="4" name="Text 2"/>
          <p:cNvSpPr/>
          <p:nvPr/>
        </p:nvSpPr>
        <p:spPr>
          <a:xfrm>
            <a:off x="457200" y="1170432"/>
            <a:ext cx="10515600" cy="45720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Audience composition of tagged views</a:t>
            </a:r>
            <a:endParaRPr lang="en-US" sz="1300" dirty="0"/>
          </a:p>
        </p:txBody>
      </p:sp>
      <p:graphicFrame>
        <p:nvGraphicFramePr>
          <p:cNvPr id="5" name="Chart 0" descr=""/>
          <p:cNvGraphicFramePr/>
          <p:nvPr/>
        </p:nvGraphicFramePr>
        <p:xfrm>
          <a:off x="548640" y="1965960"/>
          <a:ext cx="658368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7360920" y="2103120"/>
            <a:ext cx="4343400" cy="3840480"/>
          </a:xfrm>
          <a:prstGeom prst="rect">
            <a:avLst/>
          </a:prstGeom>
          <a:noFill/>
          <a:ln/>
        </p:spPr>
        <p:txBody>
          <a:bodyPr wrap="square" rtlCol="0" anchor="t"/>
          <a:lstStyle/>
          <a:p>
            <a:pPr indent="0" marL="0">
              <a:lnSpc>
                <a:spcPct val="130000"/>
              </a:lnSpc>
              <a:buNone/>
            </a:pPr>
            <a:r>
              <a:rPr lang="en-US" sz="1250" dirty="0">
                <a:solidFill>
                  <a:srgbClr val="EAE7DD"/>
                </a:solidFill>
                <a:latin typeface="Arial" pitchFamily="34" charset="0"/>
                <a:ea typeface="Arial" pitchFamily="34" charset="-122"/>
                <a:cs typeface="Arial" pitchFamily="34" charset="-120"/>
              </a:rPr>
              <a:t>Black viewers represent the largest share of viewership, reflecting strong appeal within BrightTV's primary audience. Coloured viewers form the second-largest group, followed by Indian/Asian viewers with a moderate share.</a:t>
            </a:r>
            <a:endParaRPr lang="en-US" sz="1250" dirty="0"/>
          </a:p>
          <a:p>
            <a:pPr indent="0" marL="0">
              <a:lnSpc>
                <a:spcPct val="130000"/>
              </a:lnSpc>
              <a:buNone/>
            </a:pPr>
            <a:endParaRPr lang="en-US" sz="1250" dirty="0"/>
          </a:p>
          <a:p>
            <a:pPr indent="0" marL="0">
              <a:lnSpc>
                <a:spcPct val="130000"/>
              </a:lnSpc>
              <a:buNone/>
            </a:pPr>
            <a:r>
              <a:rPr lang="en-US" sz="1250" dirty="0">
                <a:solidFill>
                  <a:srgbClr val="EAE7DD"/>
                </a:solidFill>
                <a:latin typeface="Arial" pitchFamily="34" charset="0"/>
                <a:ea typeface="Arial" pitchFamily="34" charset="-122"/>
                <a:cs typeface="Arial" pitchFamily="34" charset="-120"/>
              </a:rPr>
              <a:t>White viewers make up the smallest tagged share — an opening to diversify content and reach a broader audience without losing the strong existing base.</a:t>
            </a:r>
            <a:endParaRPr lang="en-US" sz="1250" dirty="0"/>
          </a:p>
        </p:txBody>
      </p:sp>
      <p:sp>
        <p:nvSpPr>
          <p:cNvPr id="7" name="Text 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8" name="Text 5"/>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05</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When They Tune In</a:t>
            </a:r>
            <a:endParaRPr lang="en-US" sz="3000" dirty="0"/>
          </a:p>
        </p:txBody>
      </p:sp>
      <p:sp>
        <p:nvSpPr>
          <p:cNvPr id="4" name="Text 2"/>
          <p:cNvSpPr/>
          <p:nvPr/>
        </p:nvSpPr>
        <p:spPr>
          <a:xfrm>
            <a:off x="457200" y="1170432"/>
            <a:ext cx="10515600" cy="457200"/>
          </a:xfrm>
          <a:prstGeom prst="rect">
            <a:avLst/>
          </a:prstGeom>
          <a:noFill/>
          <a:ln/>
        </p:spPr>
        <p:txBody>
          <a:bodyPr wrap="square" rtlCol="0" anchor="ctr"/>
          <a:lstStyle/>
          <a:p>
            <a:pPr indent="0" marL="0">
              <a:buNone/>
            </a:pPr>
            <a:r>
              <a:rPr lang="en-US" sz="1300" dirty="0">
                <a:solidFill>
                  <a:srgbClr val="8A97A0"/>
                </a:solidFill>
                <a:latin typeface="Arial" pitchFamily="34" charset="0"/>
                <a:ea typeface="Arial" pitchFamily="34" charset="-122"/>
                <a:cs typeface="Arial" pitchFamily="34" charset="-120"/>
              </a:rPr>
              <a:t>Daily rhythm of viewership across the week</a:t>
            </a:r>
            <a:endParaRPr lang="en-US" sz="1300" dirty="0"/>
          </a:p>
        </p:txBody>
      </p:sp>
      <p:graphicFrame>
        <p:nvGraphicFramePr>
          <p:cNvPr id="5" name="Chart 0" descr=""/>
          <p:cNvGraphicFramePr/>
          <p:nvPr/>
        </p:nvGraphicFramePr>
        <p:xfrm>
          <a:off x="457200" y="1920240"/>
          <a:ext cx="6583680" cy="33832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57200" y="5486400"/>
            <a:ext cx="6583680" cy="502920"/>
          </a:xfrm>
          <a:prstGeom prst="roundRect">
            <a:avLst>
              <a:gd name="adj" fmla="val 10909"/>
            </a:avLst>
          </a:prstGeom>
          <a:solidFill>
            <a:srgbClr val="161E24"/>
          </a:solidFill>
          <a:ln w="12700">
            <a:solidFill>
              <a:srgbClr val="232E36"/>
            </a:solidFill>
            <a:prstDash val="solid"/>
          </a:ln>
        </p:spPr>
      </p:sp>
      <p:sp>
        <p:nvSpPr>
          <p:cNvPr id="7" name="Shape 4"/>
          <p:cNvSpPr/>
          <p:nvPr/>
        </p:nvSpPr>
        <p:spPr>
          <a:xfrm>
            <a:off x="457200" y="5486400"/>
            <a:ext cx="4575658" cy="502920"/>
          </a:xfrm>
          <a:prstGeom prst="roundRect">
            <a:avLst>
              <a:gd name="adj" fmla="val 10909"/>
            </a:avLst>
          </a:prstGeom>
          <a:solidFill>
            <a:srgbClr val="8B7FD6"/>
          </a:solidFill>
          <a:ln/>
        </p:spPr>
      </p:sp>
      <p:sp>
        <p:nvSpPr>
          <p:cNvPr id="8" name="Text 5"/>
          <p:cNvSpPr/>
          <p:nvPr/>
        </p:nvSpPr>
        <p:spPr>
          <a:xfrm>
            <a:off x="548640" y="5486400"/>
            <a:ext cx="4392778" cy="502920"/>
          </a:xfrm>
          <a:prstGeom prst="rect">
            <a:avLst/>
          </a:prstGeom>
          <a:noFill/>
          <a:ln/>
        </p:spPr>
        <p:txBody>
          <a:bodyPr wrap="square" rtlCol="0" anchor="ctr"/>
          <a:lstStyle/>
          <a:p>
            <a:pPr indent="0" marL="0">
              <a:buNone/>
            </a:pPr>
            <a:r>
              <a:rPr lang="en-US" sz="1100" b="1" dirty="0">
                <a:solidFill>
                  <a:srgbClr val="0D1216"/>
                </a:solidFill>
                <a:latin typeface="Arial" pitchFamily="34" charset="0"/>
                <a:ea typeface="Arial" pitchFamily="34" charset="-122"/>
                <a:cs typeface="Arial" pitchFamily="34" charset="-120"/>
              </a:rPr>
              <a:t>Weekday — 69.5%</a:t>
            </a:r>
            <a:endParaRPr lang="en-US" sz="1100" dirty="0"/>
          </a:p>
        </p:txBody>
      </p:sp>
      <p:sp>
        <p:nvSpPr>
          <p:cNvPr id="9" name="Text 6"/>
          <p:cNvSpPr/>
          <p:nvPr/>
        </p:nvSpPr>
        <p:spPr>
          <a:xfrm>
            <a:off x="5124298" y="5486400"/>
            <a:ext cx="1828800" cy="502920"/>
          </a:xfrm>
          <a:prstGeom prst="rect">
            <a:avLst/>
          </a:prstGeom>
          <a:noFill/>
          <a:ln/>
        </p:spPr>
        <p:txBody>
          <a:bodyPr wrap="square" rtlCol="0" anchor="ctr"/>
          <a:lstStyle/>
          <a:p>
            <a:pPr indent="0" marL="0">
              <a:buNone/>
            </a:pPr>
            <a:r>
              <a:rPr lang="en-US" sz="1100" b="1" dirty="0">
                <a:solidFill>
                  <a:srgbClr val="F2A93B"/>
                </a:solidFill>
                <a:latin typeface="Arial" pitchFamily="34" charset="0"/>
                <a:ea typeface="Arial" pitchFamily="34" charset="-122"/>
                <a:cs typeface="Arial" pitchFamily="34" charset="-120"/>
              </a:rPr>
              <a:t>Weekend — 30.5%</a:t>
            </a:r>
            <a:endParaRPr lang="en-US" sz="1100" dirty="0"/>
          </a:p>
        </p:txBody>
      </p:sp>
      <p:sp>
        <p:nvSpPr>
          <p:cNvPr id="10" name="Text 7"/>
          <p:cNvSpPr/>
          <p:nvPr/>
        </p:nvSpPr>
        <p:spPr>
          <a:xfrm>
            <a:off x="7360920" y="2057400"/>
            <a:ext cx="4343400" cy="3840480"/>
          </a:xfrm>
          <a:prstGeom prst="rect">
            <a:avLst/>
          </a:prstGeom>
          <a:noFill/>
          <a:ln/>
        </p:spPr>
        <p:txBody>
          <a:bodyPr wrap="square" rtlCol="0" anchor="t"/>
          <a:lstStyle/>
          <a:p>
            <a:pPr indent="0" marL="0">
              <a:lnSpc>
                <a:spcPct val="130000"/>
              </a:lnSpc>
              <a:buNone/>
            </a:pPr>
            <a:r>
              <a:rPr lang="en-US" sz="1250" dirty="0">
                <a:solidFill>
                  <a:srgbClr val="EAE7DD"/>
                </a:solidFill>
                <a:latin typeface="Arial" pitchFamily="34" charset="0"/>
                <a:ea typeface="Arial" pitchFamily="34" charset="-122"/>
                <a:cs typeface="Arial" pitchFamily="34" charset="-120"/>
              </a:rPr>
              <a:t>Engagement peaks toward the end of the week — Friday and Saturday are the highest-viewed days — while Monday records the lowest consumption at 9.7%, the single largest opportunity for growth.</a:t>
            </a:r>
            <a:endParaRPr lang="en-US" sz="1250" dirty="0"/>
          </a:p>
          <a:p>
            <a:pPr indent="0" marL="0">
              <a:lnSpc>
                <a:spcPct val="130000"/>
              </a:lnSpc>
              <a:buNone/>
            </a:pPr>
            <a:endParaRPr lang="en-US" sz="1250" dirty="0"/>
          </a:p>
          <a:p>
            <a:pPr indent="0" marL="0">
              <a:lnSpc>
                <a:spcPct val="130000"/>
              </a:lnSpc>
              <a:buNone/>
            </a:pPr>
            <a:r>
              <a:rPr lang="en-US" sz="1250" dirty="0">
                <a:solidFill>
                  <a:srgbClr val="EAE7DD"/>
                </a:solidFill>
                <a:latin typeface="Arial" pitchFamily="34" charset="0"/>
                <a:ea typeface="Arial" pitchFamily="34" charset="-122"/>
                <a:cs typeface="Arial" pitchFamily="34" charset="-120"/>
              </a:rPr>
              <a:t>Across the week, 69.5% of all viewing happens on weekdays, concentrated in early-evening hours as viewers wind down after work.</a:t>
            </a:r>
            <a:endParaRPr lang="en-US" sz="1250" dirty="0"/>
          </a:p>
        </p:txBody>
      </p:sp>
      <p:sp>
        <p:nvSpPr>
          <p:cNvPr id="11" name="Text 8"/>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12" name="Text 9"/>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65760"/>
            <a:ext cx="914400" cy="457200"/>
          </a:xfrm>
          <a:prstGeom prst="rect">
            <a:avLst/>
          </a:prstGeom>
          <a:noFill/>
          <a:ln/>
        </p:spPr>
        <p:txBody>
          <a:bodyPr wrap="square" rtlCol="0" anchor="ctr"/>
          <a:lstStyle/>
          <a:p>
            <a:pPr indent="0" marL="0">
              <a:buNone/>
            </a:pPr>
            <a:r>
              <a:rPr lang="en-US" sz="1400" b="1" dirty="0">
                <a:solidFill>
                  <a:srgbClr val="F2A93B"/>
                </a:solidFill>
                <a:latin typeface="Courier New" pitchFamily="34" charset="0"/>
                <a:ea typeface="Courier New" pitchFamily="34" charset="-122"/>
                <a:cs typeface="Courier New" pitchFamily="34" charset="-120"/>
              </a:rPr>
              <a:t>06</a:t>
            </a:r>
            <a:endParaRPr lang="en-US" sz="1400" dirty="0"/>
          </a:p>
        </p:txBody>
      </p:sp>
      <p:sp>
        <p:nvSpPr>
          <p:cNvPr id="3" name="Text 1"/>
          <p:cNvSpPr/>
          <p:nvPr/>
        </p:nvSpPr>
        <p:spPr>
          <a:xfrm>
            <a:off x="457200" y="621792"/>
            <a:ext cx="10515600" cy="548640"/>
          </a:xfrm>
          <a:prstGeom prst="rect">
            <a:avLst/>
          </a:prstGeom>
          <a:noFill/>
          <a:ln/>
        </p:spPr>
        <p:txBody>
          <a:bodyPr wrap="square" rtlCol="0" anchor="ctr"/>
          <a:lstStyle/>
          <a:p>
            <a:pPr indent="0" marL="0">
              <a:buNone/>
            </a:pPr>
            <a:r>
              <a:rPr lang="en-US" sz="3000" b="1" dirty="0">
                <a:solidFill>
                  <a:srgbClr val="EAE7DD"/>
                </a:solidFill>
                <a:latin typeface="Century Schoolbook" pitchFamily="34" charset="0"/>
                <a:ea typeface="Century Schoolbook" pitchFamily="34" charset="-122"/>
                <a:cs typeface="Century Schoolbook" pitchFamily="34" charset="-120"/>
              </a:rPr>
              <a:t>Recommendations</a:t>
            </a:r>
            <a:endParaRPr lang="en-US" sz="3000" dirty="0"/>
          </a:p>
        </p:txBody>
      </p:sp>
      <p:sp>
        <p:nvSpPr>
          <p:cNvPr id="4" name="Shape 2"/>
          <p:cNvSpPr/>
          <p:nvPr/>
        </p:nvSpPr>
        <p:spPr>
          <a:xfrm>
            <a:off x="548640" y="1828800"/>
            <a:ext cx="420624" cy="420624"/>
          </a:xfrm>
          <a:prstGeom prst="ellipse">
            <a:avLst/>
          </a:prstGeom>
          <a:solidFill>
            <a:srgbClr val="161E24"/>
          </a:solidFill>
          <a:ln w="19050">
            <a:solidFill>
              <a:srgbClr val="F2A93B"/>
            </a:solidFill>
            <a:prstDash val="solid"/>
          </a:ln>
        </p:spPr>
      </p:sp>
      <p:sp>
        <p:nvSpPr>
          <p:cNvPr id="5" name="Text 3"/>
          <p:cNvSpPr/>
          <p:nvPr/>
        </p:nvSpPr>
        <p:spPr>
          <a:xfrm>
            <a:off x="548640" y="1828800"/>
            <a:ext cx="420624" cy="420624"/>
          </a:xfrm>
          <a:prstGeom prst="rect">
            <a:avLst/>
          </a:prstGeom>
          <a:noFill/>
          <a:ln/>
        </p:spPr>
        <p:txBody>
          <a:bodyPr wrap="square" rtlCol="0" anchor="ctr"/>
          <a:lstStyle/>
          <a:p>
            <a:pPr algn="ctr" indent="0" marL="0">
              <a:buNone/>
            </a:pPr>
            <a:r>
              <a:rPr lang="en-US" sz="1400" b="1" dirty="0">
                <a:solidFill>
                  <a:srgbClr val="F2A93B"/>
                </a:solidFill>
                <a:latin typeface="Courier New" pitchFamily="34" charset="0"/>
                <a:ea typeface="Courier New" pitchFamily="34" charset="-122"/>
                <a:cs typeface="Courier New" pitchFamily="34" charset="-120"/>
              </a:rPr>
              <a:t>1</a:t>
            </a:r>
            <a:endParaRPr lang="en-US" sz="1400" dirty="0"/>
          </a:p>
        </p:txBody>
      </p:sp>
      <p:sp>
        <p:nvSpPr>
          <p:cNvPr id="6" name="Text 4"/>
          <p:cNvSpPr/>
          <p:nvPr/>
        </p:nvSpPr>
        <p:spPr>
          <a:xfrm>
            <a:off x="1188720" y="1801368"/>
            <a:ext cx="9875520" cy="292608"/>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Invest in premium live sport</a:t>
            </a:r>
            <a:endParaRPr lang="en-US" sz="1500" dirty="0"/>
          </a:p>
        </p:txBody>
      </p:sp>
      <p:sp>
        <p:nvSpPr>
          <p:cNvPr id="7" name="Text 5"/>
          <p:cNvSpPr/>
          <p:nvPr/>
        </p:nvSpPr>
        <p:spPr>
          <a:xfrm>
            <a:off x="1188720" y="2084832"/>
            <a:ext cx="9875520" cy="365760"/>
          </a:xfrm>
          <a:prstGeom prst="rect">
            <a:avLst/>
          </a:prstGeom>
          <a:noFill/>
          <a:ln/>
        </p:spPr>
        <p:txBody>
          <a:bodyPr wrap="square" rtlCol="0" anchor="ctr"/>
          <a:lstStyle/>
          <a:p>
            <a:pPr indent="0" marL="0">
              <a:buNone/>
            </a:pPr>
            <a:r>
              <a:rPr lang="en-US" sz="1200" dirty="0">
                <a:solidFill>
                  <a:srgbClr val="8A97A0"/>
                </a:solidFill>
                <a:latin typeface="Arial" pitchFamily="34" charset="0"/>
                <a:ea typeface="Arial" pitchFamily="34" charset="-122"/>
                <a:cs typeface="Arial" pitchFamily="34" charset="-120"/>
              </a:rPr>
              <a:t>It's the single biggest driver of viewership and engagement.</a:t>
            </a:r>
            <a:endParaRPr lang="en-US" sz="1200" dirty="0"/>
          </a:p>
        </p:txBody>
      </p:sp>
      <p:sp>
        <p:nvSpPr>
          <p:cNvPr id="8" name="Shape 6"/>
          <p:cNvSpPr/>
          <p:nvPr/>
        </p:nvSpPr>
        <p:spPr>
          <a:xfrm>
            <a:off x="548640" y="2670048"/>
            <a:ext cx="420624" cy="420624"/>
          </a:xfrm>
          <a:prstGeom prst="ellipse">
            <a:avLst/>
          </a:prstGeom>
          <a:solidFill>
            <a:srgbClr val="161E24"/>
          </a:solidFill>
          <a:ln w="19050">
            <a:solidFill>
              <a:srgbClr val="47C9C2"/>
            </a:solidFill>
            <a:prstDash val="solid"/>
          </a:ln>
        </p:spPr>
      </p:sp>
      <p:sp>
        <p:nvSpPr>
          <p:cNvPr id="9" name="Text 7"/>
          <p:cNvSpPr/>
          <p:nvPr/>
        </p:nvSpPr>
        <p:spPr>
          <a:xfrm>
            <a:off x="548640" y="2670048"/>
            <a:ext cx="420624" cy="420624"/>
          </a:xfrm>
          <a:prstGeom prst="rect">
            <a:avLst/>
          </a:prstGeom>
          <a:noFill/>
          <a:ln/>
        </p:spPr>
        <p:txBody>
          <a:bodyPr wrap="square" rtlCol="0" anchor="ctr"/>
          <a:lstStyle/>
          <a:p>
            <a:pPr algn="ctr" indent="0" marL="0">
              <a:buNone/>
            </a:pPr>
            <a:r>
              <a:rPr lang="en-US" sz="1400" b="1" dirty="0">
                <a:solidFill>
                  <a:srgbClr val="47C9C2"/>
                </a:solidFill>
                <a:latin typeface="Courier New" pitchFamily="34" charset="0"/>
                <a:ea typeface="Courier New" pitchFamily="34" charset="-122"/>
                <a:cs typeface="Courier New" pitchFamily="34" charset="-120"/>
              </a:rPr>
              <a:t>2</a:t>
            </a:r>
            <a:endParaRPr lang="en-US" sz="1400" dirty="0"/>
          </a:p>
        </p:txBody>
      </p:sp>
      <p:sp>
        <p:nvSpPr>
          <p:cNvPr id="10" name="Text 8"/>
          <p:cNvSpPr/>
          <p:nvPr/>
        </p:nvSpPr>
        <p:spPr>
          <a:xfrm>
            <a:off x="1188720" y="2642616"/>
            <a:ext cx="9875520" cy="292608"/>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Lift low-viewership Mondays</a:t>
            </a:r>
            <a:endParaRPr lang="en-US" sz="1500" dirty="0"/>
          </a:p>
        </p:txBody>
      </p:sp>
      <p:sp>
        <p:nvSpPr>
          <p:cNvPr id="11" name="Text 9"/>
          <p:cNvSpPr/>
          <p:nvPr/>
        </p:nvSpPr>
        <p:spPr>
          <a:xfrm>
            <a:off x="1188720" y="2926080"/>
            <a:ext cx="9875520" cy="365760"/>
          </a:xfrm>
          <a:prstGeom prst="rect">
            <a:avLst/>
          </a:prstGeom>
          <a:noFill/>
          <a:ln/>
        </p:spPr>
        <p:txBody>
          <a:bodyPr wrap="square" rtlCol="0" anchor="ctr"/>
          <a:lstStyle/>
          <a:p>
            <a:pPr indent="0" marL="0">
              <a:buNone/>
            </a:pPr>
            <a:r>
              <a:rPr lang="en-US" sz="1200" dirty="0">
                <a:solidFill>
                  <a:srgbClr val="8A97A0"/>
                </a:solidFill>
                <a:latin typeface="Arial" pitchFamily="34" charset="0"/>
                <a:ea typeface="Arial" pitchFamily="34" charset="-122"/>
                <a:cs typeface="Arial" pitchFamily="34" charset="-120"/>
              </a:rPr>
              <a:t>Exclusive premieres, highlight shows and new releases to bring viewers back.</a:t>
            </a:r>
            <a:endParaRPr lang="en-US" sz="1200" dirty="0"/>
          </a:p>
        </p:txBody>
      </p:sp>
      <p:sp>
        <p:nvSpPr>
          <p:cNvPr id="12" name="Shape 10"/>
          <p:cNvSpPr/>
          <p:nvPr/>
        </p:nvSpPr>
        <p:spPr>
          <a:xfrm>
            <a:off x="548640" y="3511296"/>
            <a:ext cx="420624" cy="420624"/>
          </a:xfrm>
          <a:prstGeom prst="ellipse">
            <a:avLst/>
          </a:prstGeom>
          <a:solidFill>
            <a:srgbClr val="161E24"/>
          </a:solidFill>
          <a:ln w="19050">
            <a:solidFill>
              <a:srgbClr val="E8664F"/>
            </a:solidFill>
            <a:prstDash val="solid"/>
          </a:ln>
        </p:spPr>
      </p:sp>
      <p:sp>
        <p:nvSpPr>
          <p:cNvPr id="13" name="Text 11"/>
          <p:cNvSpPr/>
          <p:nvPr/>
        </p:nvSpPr>
        <p:spPr>
          <a:xfrm>
            <a:off x="548640" y="3511296"/>
            <a:ext cx="420624" cy="420624"/>
          </a:xfrm>
          <a:prstGeom prst="rect">
            <a:avLst/>
          </a:prstGeom>
          <a:noFill/>
          <a:ln/>
        </p:spPr>
        <p:txBody>
          <a:bodyPr wrap="square" rtlCol="0" anchor="ctr"/>
          <a:lstStyle/>
          <a:p>
            <a:pPr algn="ctr" indent="0" marL="0">
              <a:buNone/>
            </a:pPr>
            <a:r>
              <a:rPr lang="en-US" sz="1400" b="1" dirty="0">
                <a:solidFill>
                  <a:srgbClr val="E8664F"/>
                </a:solidFill>
                <a:latin typeface="Courier New" pitchFamily="34" charset="0"/>
                <a:ea typeface="Courier New" pitchFamily="34" charset="-122"/>
                <a:cs typeface="Courier New" pitchFamily="34" charset="-120"/>
              </a:rPr>
              <a:t>3</a:t>
            </a:r>
            <a:endParaRPr lang="en-US" sz="1400" dirty="0"/>
          </a:p>
        </p:txBody>
      </p:sp>
      <p:sp>
        <p:nvSpPr>
          <p:cNvPr id="14" name="Text 12"/>
          <p:cNvSpPr/>
          <p:nvPr/>
        </p:nvSpPr>
        <p:spPr>
          <a:xfrm>
            <a:off x="1188720" y="3483864"/>
            <a:ext cx="9875520" cy="292608"/>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Diversify content</a:t>
            </a:r>
            <a:endParaRPr lang="en-US" sz="1500" dirty="0"/>
          </a:p>
        </p:txBody>
      </p:sp>
      <p:sp>
        <p:nvSpPr>
          <p:cNvPr id="15" name="Text 13"/>
          <p:cNvSpPr/>
          <p:nvPr/>
        </p:nvSpPr>
        <p:spPr>
          <a:xfrm>
            <a:off x="1188720" y="3767328"/>
            <a:ext cx="9875520" cy="365760"/>
          </a:xfrm>
          <a:prstGeom prst="rect">
            <a:avLst/>
          </a:prstGeom>
          <a:noFill/>
          <a:ln/>
        </p:spPr>
        <p:txBody>
          <a:bodyPr wrap="square" rtlCol="0" anchor="ctr"/>
          <a:lstStyle/>
          <a:p>
            <a:pPr indent="0" marL="0">
              <a:buNone/>
            </a:pPr>
            <a:r>
              <a:rPr lang="en-US" sz="1200" dirty="0">
                <a:solidFill>
                  <a:srgbClr val="8A97A0"/>
                </a:solidFill>
                <a:latin typeface="Arial" pitchFamily="34" charset="0"/>
                <a:ea typeface="Arial" pitchFamily="34" charset="-122"/>
                <a:cs typeface="Arial" pitchFamily="34" charset="-120"/>
              </a:rPr>
              <a:t>Expand lifestyle, family and local programming to grow female and underrepresented audiences.</a:t>
            </a:r>
            <a:endParaRPr lang="en-US" sz="1200" dirty="0"/>
          </a:p>
        </p:txBody>
      </p:sp>
      <p:sp>
        <p:nvSpPr>
          <p:cNvPr id="16" name="Shape 14"/>
          <p:cNvSpPr/>
          <p:nvPr/>
        </p:nvSpPr>
        <p:spPr>
          <a:xfrm>
            <a:off x="548640" y="4352544"/>
            <a:ext cx="420624" cy="420624"/>
          </a:xfrm>
          <a:prstGeom prst="ellipse">
            <a:avLst/>
          </a:prstGeom>
          <a:solidFill>
            <a:srgbClr val="161E24"/>
          </a:solidFill>
          <a:ln w="19050">
            <a:solidFill>
              <a:srgbClr val="8B7FD6"/>
            </a:solidFill>
            <a:prstDash val="solid"/>
          </a:ln>
        </p:spPr>
      </p:sp>
      <p:sp>
        <p:nvSpPr>
          <p:cNvPr id="17" name="Text 15"/>
          <p:cNvSpPr/>
          <p:nvPr/>
        </p:nvSpPr>
        <p:spPr>
          <a:xfrm>
            <a:off x="548640" y="4352544"/>
            <a:ext cx="420624" cy="420624"/>
          </a:xfrm>
          <a:prstGeom prst="rect">
            <a:avLst/>
          </a:prstGeom>
          <a:noFill/>
          <a:ln/>
        </p:spPr>
        <p:txBody>
          <a:bodyPr wrap="square" rtlCol="0" anchor="ctr"/>
          <a:lstStyle/>
          <a:p>
            <a:pPr algn="ctr" indent="0" marL="0">
              <a:buNone/>
            </a:pPr>
            <a:r>
              <a:rPr lang="en-US" sz="1400" b="1" dirty="0">
                <a:solidFill>
                  <a:srgbClr val="8B7FD6"/>
                </a:solidFill>
                <a:latin typeface="Courier New" pitchFamily="34" charset="0"/>
                <a:ea typeface="Courier New" pitchFamily="34" charset="-122"/>
                <a:cs typeface="Courier New" pitchFamily="34" charset="-120"/>
              </a:rPr>
              <a:t>4</a:t>
            </a:r>
            <a:endParaRPr lang="en-US" sz="1400" dirty="0"/>
          </a:p>
        </p:txBody>
      </p:sp>
      <p:sp>
        <p:nvSpPr>
          <p:cNvPr id="18" name="Text 16"/>
          <p:cNvSpPr/>
          <p:nvPr/>
        </p:nvSpPr>
        <p:spPr>
          <a:xfrm>
            <a:off x="1188720" y="4325112"/>
            <a:ext cx="9875520" cy="292608"/>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Grow underperforming provinces</a:t>
            </a:r>
            <a:endParaRPr lang="en-US" sz="1500" dirty="0"/>
          </a:p>
        </p:txBody>
      </p:sp>
      <p:sp>
        <p:nvSpPr>
          <p:cNvPr id="19" name="Text 17"/>
          <p:cNvSpPr/>
          <p:nvPr/>
        </p:nvSpPr>
        <p:spPr>
          <a:xfrm>
            <a:off x="1188720" y="4608576"/>
            <a:ext cx="9875520" cy="365760"/>
          </a:xfrm>
          <a:prstGeom prst="rect">
            <a:avLst/>
          </a:prstGeom>
          <a:noFill/>
          <a:ln/>
        </p:spPr>
        <p:txBody>
          <a:bodyPr wrap="square" rtlCol="0" anchor="ctr"/>
          <a:lstStyle/>
          <a:p>
            <a:pPr indent="0" marL="0">
              <a:buNone/>
            </a:pPr>
            <a:r>
              <a:rPr lang="en-US" sz="1200" dirty="0">
                <a:solidFill>
                  <a:srgbClr val="8A97A0"/>
                </a:solidFill>
                <a:latin typeface="Arial" pitchFamily="34" charset="0"/>
                <a:ea typeface="Arial" pitchFamily="34" charset="-122"/>
                <a:cs typeface="Arial" pitchFamily="34" charset="-120"/>
              </a:rPr>
              <a:t>Targeted marketing in Free State, North West and Northern Cape.</a:t>
            </a:r>
            <a:endParaRPr lang="en-US" sz="1200" dirty="0"/>
          </a:p>
        </p:txBody>
      </p:sp>
      <p:sp>
        <p:nvSpPr>
          <p:cNvPr id="20" name="Shape 18"/>
          <p:cNvSpPr/>
          <p:nvPr/>
        </p:nvSpPr>
        <p:spPr>
          <a:xfrm>
            <a:off x="548640" y="5193792"/>
            <a:ext cx="420624" cy="420624"/>
          </a:xfrm>
          <a:prstGeom prst="ellipse">
            <a:avLst/>
          </a:prstGeom>
          <a:solidFill>
            <a:srgbClr val="161E24"/>
          </a:solidFill>
          <a:ln w="19050">
            <a:solidFill>
              <a:srgbClr val="F2A93B"/>
            </a:solidFill>
            <a:prstDash val="solid"/>
          </a:ln>
        </p:spPr>
      </p:sp>
      <p:sp>
        <p:nvSpPr>
          <p:cNvPr id="21" name="Text 19"/>
          <p:cNvSpPr/>
          <p:nvPr/>
        </p:nvSpPr>
        <p:spPr>
          <a:xfrm>
            <a:off x="548640" y="5193792"/>
            <a:ext cx="420624" cy="420624"/>
          </a:xfrm>
          <a:prstGeom prst="rect">
            <a:avLst/>
          </a:prstGeom>
          <a:noFill/>
          <a:ln/>
        </p:spPr>
        <p:txBody>
          <a:bodyPr wrap="square" rtlCol="0" anchor="ctr"/>
          <a:lstStyle/>
          <a:p>
            <a:pPr algn="ctr" indent="0" marL="0">
              <a:buNone/>
            </a:pPr>
            <a:r>
              <a:rPr lang="en-US" sz="1400" b="1" dirty="0">
                <a:solidFill>
                  <a:srgbClr val="F2A93B"/>
                </a:solidFill>
                <a:latin typeface="Courier New" pitchFamily="34" charset="0"/>
                <a:ea typeface="Courier New" pitchFamily="34" charset="-122"/>
                <a:cs typeface="Courier New" pitchFamily="34" charset="-120"/>
              </a:rPr>
              <a:t>5</a:t>
            </a:r>
            <a:endParaRPr lang="en-US" sz="1400" dirty="0"/>
          </a:p>
        </p:txBody>
      </p:sp>
      <p:sp>
        <p:nvSpPr>
          <p:cNvPr id="22" name="Text 20"/>
          <p:cNvSpPr/>
          <p:nvPr/>
        </p:nvSpPr>
        <p:spPr>
          <a:xfrm>
            <a:off x="1188720" y="5166360"/>
            <a:ext cx="9875520" cy="292608"/>
          </a:xfrm>
          <a:prstGeom prst="rect">
            <a:avLst/>
          </a:prstGeom>
          <a:noFill/>
          <a:ln/>
        </p:spPr>
        <p:txBody>
          <a:bodyPr wrap="square" rtlCol="0" anchor="ctr"/>
          <a:lstStyle/>
          <a:p>
            <a:pPr indent="0" marL="0">
              <a:buNone/>
            </a:pPr>
            <a:r>
              <a:rPr lang="en-US" sz="1500" b="1" dirty="0">
                <a:solidFill>
                  <a:srgbClr val="EAE7DD"/>
                </a:solidFill>
                <a:latin typeface="Arial" pitchFamily="34" charset="0"/>
                <a:ea typeface="Arial" pitchFamily="34" charset="-122"/>
                <a:cs typeface="Arial" pitchFamily="34" charset="-120"/>
              </a:rPr>
              <a:t>Personalise the experience</a:t>
            </a:r>
            <a:endParaRPr lang="en-US" sz="1500" dirty="0"/>
          </a:p>
        </p:txBody>
      </p:sp>
      <p:sp>
        <p:nvSpPr>
          <p:cNvPr id="23" name="Text 21"/>
          <p:cNvSpPr/>
          <p:nvPr/>
        </p:nvSpPr>
        <p:spPr>
          <a:xfrm>
            <a:off x="1188720" y="5449824"/>
            <a:ext cx="9875520" cy="365760"/>
          </a:xfrm>
          <a:prstGeom prst="rect">
            <a:avLst/>
          </a:prstGeom>
          <a:noFill/>
          <a:ln/>
        </p:spPr>
        <p:txBody>
          <a:bodyPr wrap="square" rtlCol="0" anchor="ctr"/>
          <a:lstStyle/>
          <a:p>
            <a:pPr indent="0" marL="0">
              <a:buNone/>
            </a:pPr>
            <a:r>
              <a:rPr lang="en-US" sz="1200" dirty="0">
                <a:solidFill>
                  <a:srgbClr val="8A97A0"/>
                </a:solidFill>
                <a:latin typeface="Arial" pitchFamily="34" charset="0"/>
                <a:ea typeface="Arial" pitchFamily="34" charset="-122"/>
                <a:cs typeface="Arial" pitchFamily="34" charset="-120"/>
              </a:rPr>
              <a:t>Use recommendations and targeted campaigns to improve retention and session length.</a:t>
            </a:r>
            <a:endParaRPr lang="en-US" sz="1200" dirty="0"/>
          </a:p>
        </p:txBody>
      </p:sp>
      <p:sp>
        <p:nvSpPr>
          <p:cNvPr id="24" name="Text 22"/>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25" name="Text 23"/>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22960" y="685800"/>
            <a:ext cx="502920" cy="502920"/>
          </a:xfrm>
          <a:prstGeom prst="roundRect">
            <a:avLst>
              <a:gd name="adj" fmla="val 20000"/>
            </a:avLst>
          </a:prstGeom>
          <a:solidFill>
            <a:srgbClr val="F2A93B"/>
          </a:solidFill>
          <a:ln/>
        </p:spPr>
      </p:sp>
      <p:sp>
        <p:nvSpPr>
          <p:cNvPr id="3" name="Text 1"/>
          <p:cNvSpPr/>
          <p:nvPr/>
        </p:nvSpPr>
        <p:spPr>
          <a:xfrm>
            <a:off x="822960" y="685800"/>
            <a:ext cx="502920" cy="502920"/>
          </a:xfrm>
          <a:prstGeom prst="rect">
            <a:avLst/>
          </a:prstGeom>
          <a:noFill/>
          <a:ln/>
        </p:spPr>
        <p:txBody>
          <a:bodyPr wrap="square" rtlCol="0" anchor="ctr"/>
          <a:lstStyle/>
          <a:p>
            <a:pPr algn="ctr" indent="0" marL="0">
              <a:buNone/>
            </a:pPr>
            <a:r>
              <a:rPr lang="en-US" sz="1870" b="1" dirty="0">
                <a:solidFill>
                  <a:srgbClr val="0D1216"/>
                </a:solidFill>
                <a:latin typeface="Century Schoolbook" pitchFamily="34" charset="0"/>
                <a:ea typeface="Century Schoolbook" pitchFamily="34" charset="-122"/>
                <a:cs typeface="Century Schoolbook" pitchFamily="34" charset="-120"/>
              </a:rPr>
              <a:t>B</a:t>
            </a:r>
            <a:endParaRPr lang="en-US" sz="1870" dirty="0"/>
          </a:p>
        </p:txBody>
      </p:sp>
      <p:sp>
        <p:nvSpPr>
          <p:cNvPr id="4" name="Text 2"/>
          <p:cNvSpPr/>
          <p:nvPr/>
        </p:nvSpPr>
        <p:spPr>
          <a:xfrm>
            <a:off x="822960" y="1417320"/>
            <a:ext cx="9144000" cy="548640"/>
          </a:xfrm>
          <a:prstGeom prst="rect">
            <a:avLst/>
          </a:prstGeom>
          <a:noFill/>
          <a:ln/>
        </p:spPr>
        <p:txBody>
          <a:bodyPr wrap="square" rtlCol="0" anchor="ctr"/>
          <a:lstStyle/>
          <a:p>
            <a:pPr indent="0" marL="0">
              <a:buNone/>
            </a:pPr>
            <a:r>
              <a:rPr lang="en-US" sz="2800" b="1" dirty="0">
                <a:solidFill>
                  <a:srgbClr val="EAE7DD"/>
                </a:solidFill>
                <a:latin typeface="Century Schoolbook" pitchFamily="34" charset="0"/>
                <a:ea typeface="Century Schoolbook" pitchFamily="34" charset="-122"/>
                <a:cs typeface="Century Schoolbook" pitchFamily="34" charset="-120"/>
              </a:rPr>
              <a:t>Closing Remarks</a:t>
            </a:r>
            <a:endParaRPr lang="en-US" sz="2800" dirty="0"/>
          </a:p>
        </p:txBody>
      </p:sp>
      <p:sp>
        <p:nvSpPr>
          <p:cNvPr id="5" name="Text 3"/>
          <p:cNvSpPr/>
          <p:nvPr/>
        </p:nvSpPr>
        <p:spPr>
          <a:xfrm>
            <a:off x="822960" y="2286000"/>
            <a:ext cx="8961120" cy="3657600"/>
          </a:xfrm>
          <a:prstGeom prst="rect">
            <a:avLst/>
          </a:prstGeom>
          <a:noFill/>
          <a:ln/>
        </p:spPr>
        <p:txBody>
          <a:bodyPr wrap="square" rtlCol="0" anchor="t"/>
          <a:lstStyle/>
          <a:p>
            <a:pPr indent="0" marL="0">
              <a:lnSpc>
                <a:spcPct val="135000"/>
              </a:lnSpc>
              <a:buNone/>
            </a:pPr>
            <a:r>
              <a:rPr lang="en-US" sz="1500" dirty="0">
                <a:solidFill>
                  <a:srgbClr val="EAE7DD"/>
                </a:solidFill>
                <a:latin typeface="Arial" pitchFamily="34" charset="0"/>
                <a:ea typeface="Arial" pitchFamily="34" charset="-122"/>
                <a:cs typeface="Arial" pitchFamily="34" charset="-120"/>
              </a:rPr>
              <a:t>BrightTV has established a strong presence among Young Adult viewers, particularly in Gauteng, with live sport driving the highest engagement on the platform.</a:t>
            </a:r>
            <a:endParaRPr lang="en-US" sz="1500" dirty="0"/>
          </a:p>
          <a:p>
            <a:pPr indent="0" marL="0">
              <a:lnSpc>
                <a:spcPct val="135000"/>
              </a:lnSpc>
              <a:buNone/>
            </a:pPr>
            <a:endParaRPr lang="en-US" sz="1500" dirty="0"/>
          </a:p>
          <a:p>
            <a:pPr indent="0" marL="0">
              <a:lnSpc>
                <a:spcPct val="135000"/>
              </a:lnSpc>
              <a:buNone/>
            </a:pPr>
            <a:r>
              <a:rPr lang="en-US" sz="1500" dirty="0">
                <a:solidFill>
                  <a:srgbClr val="EAE7DD"/>
                </a:solidFill>
                <a:latin typeface="Arial" pitchFamily="34" charset="0"/>
                <a:ea typeface="Arial" pitchFamily="34" charset="-122"/>
                <a:cs typeface="Arial" pitchFamily="34" charset="-120"/>
              </a:rPr>
              <a:t>While the platform continues to grow, there are clear opportunities to increase viewership by diversifying content, expanding into underrepresented markets, and deepening customer engagement on quieter days.</a:t>
            </a:r>
            <a:endParaRPr lang="en-US" sz="1500" dirty="0"/>
          </a:p>
          <a:p>
            <a:pPr indent="0" marL="0">
              <a:lnSpc>
                <a:spcPct val="135000"/>
              </a:lnSpc>
              <a:buNone/>
            </a:pPr>
            <a:endParaRPr lang="en-US" sz="1500" dirty="0"/>
          </a:p>
          <a:p>
            <a:pPr indent="0" marL="0">
              <a:lnSpc>
                <a:spcPct val="135000"/>
              </a:lnSpc>
              <a:buNone/>
            </a:pPr>
            <a:r>
              <a:rPr lang="en-US" sz="1500" dirty="0">
                <a:solidFill>
                  <a:srgbClr val="EAE7DD"/>
                </a:solidFill>
                <a:latin typeface="Arial" pitchFamily="34" charset="0"/>
                <a:ea typeface="Arial" pitchFamily="34" charset="-122"/>
                <a:cs typeface="Arial" pitchFamily="34" charset="-120"/>
              </a:rPr>
              <a:t>By acting on these insights, BrightTV can strengthen its competitive position, improve retention, and build a foundation for sustainable growth.</a:t>
            </a:r>
            <a:endParaRPr lang="en-US" sz="1500" dirty="0"/>
          </a:p>
        </p:txBody>
      </p:sp>
      <p:sp>
        <p:nvSpPr>
          <p:cNvPr id="6" name="Text 4"/>
          <p:cNvSpPr/>
          <p:nvPr/>
        </p:nvSpPr>
        <p:spPr>
          <a:xfrm>
            <a:off x="457200" y="6537960"/>
            <a:ext cx="7315200" cy="274320"/>
          </a:xfrm>
          <a:prstGeom prst="rect">
            <a:avLst/>
          </a:prstGeom>
          <a:noFill/>
          <a:ln/>
        </p:spPr>
        <p:txBody>
          <a:bodyPr wrap="square" rtlCol="0" anchor="ctr"/>
          <a:lstStyle/>
          <a:p>
            <a:pPr indent="0" marL="0">
              <a:buNone/>
            </a:pPr>
            <a:r>
              <a:rPr lang="en-US" sz="900" dirty="0">
                <a:solidFill>
                  <a:srgbClr val="5B666D"/>
                </a:solidFill>
                <a:latin typeface="Arial" pitchFamily="34" charset="0"/>
                <a:ea typeface="Arial" pitchFamily="34" charset="-122"/>
                <a:cs typeface="Arial" pitchFamily="34" charset="-120"/>
              </a:rPr>
              <a:t>BrightTV  ·  Subscriber Viewership Intelligence</a:t>
            </a:r>
            <a:endParaRPr lang="en-US" sz="900" dirty="0"/>
          </a:p>
        </p:txBody>
      </p:sp>
      <p:sp>
        <p:nvSpPr>
          <p:cNvPr id="7" name="Text 5"/>
          <p:cNvSpPr/>
          <p:nvPr/>
        </p:nvSpPr>
        <p:spPr>
          <a:xfrm>
            <a:off x="10515600" y="6537960"/>
            <a:ext cx="1280160" cy="274320"/>
          </a:xfrm>
          <a:prstGeom prst="rect">
            <a:avLst/>
          </a:prstGeom>
          <a:noFill/>
          <a:ln/>
        </p:spPr>
        <p:txBody>
          <a:bodyPr wrap="square" rtlCol="0" anchor="ctr"/>
          <a:lstStyle/>
          <a:p>
            <a:pPr algn="r" indent="0" marL="0">
              <a:buNone/>
            </a:pPr>
            <a:r>
              <a:rPr lang="en-US" sz="900" dirty="0">
                <a:solidFill>
                  <a:srgbClr val="5B666D"/>
                </a:solidFill>
                <a:latin typeface="Arial" pitchFamily="34" charset="0"/>
                <a:ea typeface="Arial" pitchFamily="34" charset="-122"/>
                <a:cs typeface="Arial"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367528" y="2194560"/>
            <a:ext cx="822960" cy="822960"/>
          </a:xfrm>
          <a:prstGeom prst="roundRect">
            <a:avLst>
              <a:gd name="adj" fmla="val 20000"/>
            </a:avLst>
          </a:prstGeom>
          <a:solidFill>
            <a:srgbClr val="F2A93B"/>
          </a:solidFill>
          <a:ln/>
        </p:spPr>
      </p:sp>
      <p:sp>
        <p:nvSpPr>
          <p:cNvPr id="3" name="Text 1"/>
          <p:cNvSpPr/>
          <p:nvPr/>
        </p:nvSpPr>
        <p:spPr>
          <a:xfrm>
            <a:off x="5367528" y="2194560"/>
            <a:ext cx="822960" cy="822960"/>
          </a:xfrm>
          <a:prstGeom prst="rect">
            <a:avLst/>
          </a:prstGeom>
          <a:noFill/>
          <a:ln/>
        </p:spPr>
        <p:txBody>
          <a:bodyPr wrap="square" rtlCol="0" anchor="ctr"/>
          <a:lstStyle/>
          <a:p>
            <a:pPr algn="ctr" indent="0" marL="0">
              <a:buNone/>
            </a:pPr>
            <a:r>
              <a:rPr lang="en-US" sz="3060" b="1" dirty="0">
                <a:solidFill>
                  <a:srgbClr val="0D1216"/>
                </a:solidFill>
                <a:latin typeface="Century Schoolbook" pitchFamily="34" charset="0"/>
                <a:ea typeface="Century Schoolbook" pitchFamily="34" charset="-122"/>
                <a:cs typeface="Century Schoolbook" pitchFamily="34" charset="-120"/>
              </a:rPr>
              <a:t>B</a:t>
            </a:r>
            <a:endParaRPr lang="en-US" sz="3060" dirty="0"/>
          </a:p>
        </p:txBody>
      </p:sp>
      <p:sp>
        <p:nvSpPr>
          <p:cNvPr id="4" name="Text 2"/>
          <p:cNvSpPr/>
          <p:nvPr/>
        </p:nvSpPr>
        <p:spPr>
          <a:xfrm>
            <a:off x="0" y="3246120"/>
            <a:ext cx="12188952" cy="822960"/>
          </a:xfrm>
          <a:prstGeom prst="rect">
            <a:avLst/>
          </a:prstGeom>
          <a:noFill/>
          <a:ln/>
        </p:spPr>
        <p:txBody>
          <a:bodyPr wrap="square" rtlCol="0" anchor="ctr"/>
          <a:lstStyle/>
          <a:p>
            <a:pPr algn="ctr" indent="0" marL="0">
              <a:buNone/>
            </a:pPr>
            <a:r>
              <a:rPr lang="en-US" sz="4000" b="1" dirty="0">
                <a:solidFill>
                  <a:srgbClr val="EAE7DD"/>
                </a:solidFill>
                <a:latin typeface="Century Schoolbook" pitchFamily="34" charset="0"/>
                <a:ea typeface="Century Schoolbook" pitchFamily="34" charset="-122"/>
                <a:cs typeface="Century Schoolbook" pitchFamily="34" charset="-120"/>
              </a:rPr>
              <a:t>THANK YOU</a:t>
            </a:r>
            <a:endParaRPr lang="en-US" sz="4000" dirty="0"/>
          </a:p>
        </p:txBody>
      </p:sp>
      <p:sp>
        <p:nvSpPr>
          <p:cNvPr id="5" name="Text 3"/>
          <p:cNvSpPr/>
          <p:nvPr/>
        </p:nvSpPr>
        <p:spPr>
          <a:xfrm>
            <a:off x="0" y="4069080"/>
            <a:ext cx="12188952" cy="365760"/>
          </a:xfrm>
          <a:prstGeom prst="rect">
            <a:avLst/>
          </a:prstGeom>
          <a:noFill/>
          <a:ln/>
        </p:spPr>
        <p:txBody>
          <a:bodyPr wrap="square" rtlCol="0" anchor="ctr"/>
          <a:lstStyle/>
          <a:p>
            <a:pPr algn="ctr" indent="0" marL="0">
              <a:buNone/>
            </a:pPr>
            <a:r>
              <a:rPr lang="en-US" sz="1250" dirty="0">
                <a:solidFill>
                  <a:srgbClr val="8A97A0"/>
                </a:solidFill>
                <a:latin typeface="Arial" pitchFamily="34" charset="0"/>
                <a:ea typeface="Arial" pitchFamily="34" charset="-122"/>
                <a:cs typeface="Arial" pitchFamily="34" charset="-120"/>
              </a:rPr>
              <a:t>BrightTV Subscriber Viewership Intelligence  ·  Prepared by Jafter Selaelo</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2026-07-26T15:54:38Z</dcterms:created>
  <dcterms:modified xsi:type="dcterms:W3CDTF">2026-07-26T15:54:38Z</dcterms:modified>
</cp:coreProperties>
</file>